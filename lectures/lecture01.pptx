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371600" y="1920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2B5CE6"/>
                </a:solidFill>
                <a:latin typeface="Arial"/>
              </a:rPr>
              <a:t>Машинное обучение · Лекция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87168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000" b="1" i="0">
                <a:solidFill>
                  <a:srgbClr val="181D27"/>
                </a:solidFill>
                <a:latin typeface="Arial"/>
              </a:rPr>
              <a:t>Что такое машинное обучение и как выглядит ML-проект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326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6B7484"/>
                </a:solidFill>
                <a:latin typeface="Arial"/>
              </a:rPr>
              <a:t>Зачем нужен этот курс, из чего он состоит и с какой ошибки начинают почти все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5257800"/>
            <a:ext cx="2011680" cy="19050"/>
          </a:xfrm>
          <a:prstGeom prst="rect">
            <a:avLst/>
          </a:prstGeom>
          <a:solidFill>
            <a:srgbClr val="DDE2E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181D27"/>
                </a:solidFill>
                <a:latin typeface="Arial"/>
              </a:rPr>
              <a:t>Рустам Азимов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О курсе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Пять минут организационного, потом переходим к делу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Из чего состоит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Классический ML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51295" y="1984248"/>
            <a:ext cx="5163159" cy="123444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 w="15875">
            <a:solidFill>
              <a:srgbClr val="2B5CE6"/>
            </a:solidFill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2B5CE6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8 лекций · 8 практик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Первая половина — данные, признаки, модели на табличных задачах. Вторая — нейросети, компьютерное зрение, трансформеры и большие языковые модели. Вторая половина опирается на первую: без понимания переобучения и валидации нейросети превращаются в гадание.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 / 58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Первая половина: классический ML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Введение и ML-проект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Ставить задачу и не обманывать себя результатом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Данные, признаки, EDA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Готовить данные так, чтобы модель вообще заработала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Линейные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как модель учится на градиентном спуске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Метрики и валидация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Честно измерять качество — самый важный навык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Деревья и ближайшие соседи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Работать с нелинейными зависимостями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Ансамбли и бустинг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Решать табличные задачи на уровне индустрии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Обучение без учителя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Находить структуру там, где нет разметки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Интерпретация и продакшен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Объяснять решения модели и доводить её до сервиса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 / 58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Вторая половина: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3" cy="3373119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86434"/>
                <a:gridCol w="4432172"/>
                <a:gridCol w="5318607"/>
              </a:tblGrid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Тема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научитесь делать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 линейной модели к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Писать и обучать сети на PyTorch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Как реально обучать сети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почему сеть не учится, и чинить это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Компьютерное зрение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Дообучать готовые модели под свою задачу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Attention и трансформер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Собрать трансформер своими руками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Большие языковые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Понимать, что происходит внутри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Post-training и RL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Разбираться в SFT, RLHF, DPO и reasoning-моделях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RAG, LoRA, агенты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Строить прикладные системы поверх LLM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7479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Генеративные модели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Понимать диффузию, CLIP и мультимодальность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 / 58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устроено оценивание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Домашние задания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Всего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7 домашних работ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и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финальный проект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Базовый полный балл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5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с бонусными пунктами — до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10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до дедлайна — все заработанные баллы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Сдал после дедлайна — половина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Каждая работа закрывает две лекции, дедлайн раз в две недели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Экзамен и автоматы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Экзамен —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два вопроса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по пройденным темам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Допуск к экзамену — от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15 баллов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27 баллов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«хорошо»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32 балла и больше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— автомат «отлично»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6 / 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будем 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Всё бесплатно и работает в браузере — своя видеокарта не нужна</a:t>
            </a:r>
          </a:p>
        </p:txBody>
      </p:sp>
      <p:pic>
        <p:nvPicPr>
          <p:cNvPr id="5" name="Picture 4" descr="qr_git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8455" y="2139696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808415" y="4590288"/>
            <a:ext cx="2606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1" i="0">
                <a:solidFill>
                  <a:srgbClr val="181D27"/>
                </a:solidFill>
                <a:latin typeface="Arial"/>
              </a:rPr>
              <a:t>Материалы курса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github.com/rustam-azimov/</a:t>
            </a:r>
          </a:p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600" b="0" i="0">
                <a:solidFill>
                  <a:srgbClr val="181D27"/>
                </a:solidFill>
                <a:latin typeface="Arial"/>
              </a:rPr>
              <a:t>ml-course-hse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Python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Основной язык, базовый синтаксис знаете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6114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NumPy · pandas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Массивы и таблицы, первая практика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4988" y="2048256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scikit-learn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Классические модели, единый интерфейс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matplotlib · seaborn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Графики. Без визуализации данные немы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6114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PyTorch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Нейросети во второй половине курса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4988" y="3520440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Hugging Face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Готовые предобученные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Google Colab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Блокноты с бесплатной видеокартой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06114" y="4992624"/>
            <a:ext cx="2436266" cy="1179576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Git · GitHub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Материалы курса и сдача работ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7 / 58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Что такое машинное обучение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И чем оно отличается от обычного программирования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two_paradig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491" y="566928"/>
            <a:ext cx="5696712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9 / 58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парадигмы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Разница не в том, что программу заменяет магия, а в том, откуда берутся правила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Обычное программирование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формулирует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правила</a:t>
            </a:r>
            <a:r>
              <a:rPr sz="1600" b="0" i="0">
                <a:solidFill>
                  <a:srgbClr val="181D27"/>
                </a:solidFill>
                <a:latin typeface="Arial"/>
              </a:rPr>
              <a:t> явно, в коде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Программа получает данные и применяет к ним правила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известны и их можно выписать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Налоговый калькулятор, сортировка, парсер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Человек даёт </a:t>
            </a:r>
            <a:r>
              <a:rPr sz="1600" b="1" i="0">
                <a:solidFill>
                  <a:srgbClr val="181D27"/>
                </a:solidFill>
                <a:latin typeface="Arial"/>
              </a:rPr>
              <a:t>данные и ответы</a:t>
            </a:r>
            <a:r>
              <a:rPr sz="1600" b="0" i="0">
                <a:solidFill>
                  <a:srgbClr val="181D27"/>
                </a:solidFill>
                <a:latin typeface="Arial"/>
              </a:rPr>
              <a:t>, правила ищет алгоритм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выходе — модель, которую применяют к новым данным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Работает, когда правила есть, но выписать их невозможно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Распознавание речи, рекомендации, кредитный скоринг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10 / 58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11 / 58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Какую из этих задач разумно решать машинным обучением?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Посчитать НДС по известной ставке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Отсортировать список фамилий по алфавиту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Определить, спам ли письмо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Перевести градусы Цельсия в Фаренгейты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Только спам. В трёх остальных задачах правило известно точно — оно пишется кодом за пять минут и не ошибается. Машинное обучение нужно там, где правило существует, но выписать его человек не в состоянии: у спама тысячи признаков, и меняются они каждый месяц.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12 / 58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Задача, где правила выписать нельзя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Отличить на фотографии кошку от собаки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Попробуйте сформулировать правило. Уши? У некоторых пород они одинаковые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Размер? На фотографии нет масштаба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Форма морды? Опишите её словами так, чтобы получился работающий код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Человек решает эту задачу мгновенно, но не может объяснить как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Так и работает ML: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мы не описываем кошку, мы показываем десять тысяч фотографий кошек и десять тысяч фотографий собак — и алгоритм сам находит различающие признаки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13 / 58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Признаков не хватает, чтобы выписать правило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cat_dog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38394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61340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Даже два признака не дают чистого правила: у границы кошки и собаки перемешаны. Человек различает их по десяткам мелких признаков, которые не может назвать словами.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14 / 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Формальное определение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Классика жанра — определение Тома Митчелла, 1997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85416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Программа обучается на опыте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относительно класса задач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 меры качества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если её качество на задачах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T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измеренное через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P</a:t>
            </a:r>
            <a:r>
              <a:rPr sz="1800" b="0" i="0">
                <a:solidFill>
                  <a:srgbClr val="181D27"/>
                </a:solidFill>
                <a:latin typeface="Arial"/>
              </a:rPr>
              <a:t>, растёт с накоплением опыта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52344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Звучит громоздко, но смысл простой: есть задача, есть способ измерить успех, и есть данные, от которых успех растёт.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5584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задачи «отличить спам от не-спама»: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22776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T — классификация писем · E — размеченный архив писем · P — доля верных ответов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15 / 58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это выглядит на практике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supervised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099" y="1572768"/>
            <a:ext cx="8105498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Мы не описываем, чем кошка отличается от собаки. Мы показываем размеченные примеры, а модель сама находит различающие признаки — и применяет их к новому объекту.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16 / 58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Где это уже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Скорее всего, вы пользовались этим сегодня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Поиск и рекомендации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Ранжирование выдачи, лента, подбор товаров и музыки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0514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Финансы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Кредитный скоринг, обнаружение мошеннических операций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3788" y="2048256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Медицина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Анализ снимков, предсказание рисков, подбор терапии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Промышленность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Предсказание отказа оборудования, контроль качества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0514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Языковые модели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Перевод, генерация текста, ассистенты в редакторе кода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3788" y="4032504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Транспорт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Прогноз спроса, маршрутизация, автономное вождение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17 / 58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задачи целиком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Чтобы стало понятно, из чего состоит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Отток клиентов.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клиент, признаки: сколько платит, как часто заходит, сколько обращений в поддержку. Ответ: ушёл в течение трёх месяцев или нет. Даёт: список тех, кому стоит позвонить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Стоимость квартиры.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объявление, признаки: площадь, этаж, район, год постройки. Ответ: цена сделки. Даёт: оценку, с которой сравнивают запрашиваемую цену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Брак на производстве.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 — деталь, признаки: показания датчиков во время изготовления. Ответ: прошла контроль или нет. Даёт: раннее предупреждение до контроля качества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 всех трёх случаях сначала формулируют, что предсказываем и откуда берутся ответы. Только потом пишут код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18 / 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ИИ, машинное обучение и глубокое 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Искусственный интеллект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Всё, что имитирует разумное поведение</a:t>
            </a:r>
          </a:p>
        </p:txBody>
      </p:sp>
      <p:sp>
        <p:nvSpPr>
          <p:cNvPr id="5" name="Right Arrow 4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42661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Машинное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Поведение выводится из данных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75980" y="1984248"/>
            <a:ext cx="3338474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600" b="1" i="0">
                <a:solidFill>
                  <a:srgbClr val="181D27"/>
                </a:solidFill>
                <a:latin typeface="Arial"/>
              </a:rPr>
              <a:t>Глубокое обучение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400" b="0" i="0">
                <a:solidFill>
                  <a:srgbClr val="6B7484"/>
                </a:solidFill>
                <a:latin typeface="Arial"/>
              </a:rPr>
              <a:t>Модели на нейронных сетях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Вложенные множества, а не синонимы. Экспертная система из правил — это ИИ, но не ML. Линейная регрессия — это ML, но не глубокое обучение. Термин «Data Science» шире всех трёх: он включает и сбор данных, и аналитику, и коммуникацию результата.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19 / 58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Классический ML или большая модель?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Вопрос, который вам зададут на первой же работе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Классический ML справится лучше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Табличные данные: клиенты, транзакции, показания датчиков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интерпретируемость — объяснить отказ в кредите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немного, разметка своя, домен узкий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Важны скорость отклика и стоимость инференса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1" i="0">
                <a:solidFill>
                  <a:srgbClr val="181D27"/>
                </a:solidFill>
                <a:latin typeface="Arial"/>
              </a:rPr>
              <a:t>Градиентный бустинг до сих пор бьёт нейросети на таблицах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1587" y="2048256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181D27"/>
                </a:solidFill>
                <a:latin typeface="Arial"/>
              </a:rPr>
              <a:t>Нужна большая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Текст, изображения, звук, видео — неструктурированные данные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Задача требует общих знаний о мире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Своей разметки мало, но есть готовая предобученная модель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Нужна гибкость: одна модель на много разных задач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Генерация, а не только предсказание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20 / 58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Типы задач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Что вообще можно попросить у модели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Три больших семейства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учителем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 и правильные ответы к ним. Учимся предсказывать ответ для новых объектов. Основная часть курса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0514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Без учителя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Есть объекты, ответов нет. Ищем структуру: группы похожих, аномалии, скрытые закономерности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63788" y="1572768"/>
            <a:ext cx="3350666" cy="16916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146304" rIns="146304" tIns="164592" bIns="100584"/>
          <a:lstStyle/>
          <a:p>
            <a:pPr algn="l">
              <a:spcAft>
                <a:spcPts val="700"/>
              </a:spcAft>
            </a:pPr>
            <a:r>
              <a:rPr sz="1600" b="1" i="0">
                <a:solidFill>
                  <a:srgbClr val="2B5CE6"/>
                </a:solidFill>
                <a:latin typeface="Arial"/>
              </a:rPr>
              <a:t>С подкреплением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181D27"/>
                </a:solidFill>
                <a:latin typeface="Arial"/>
              </a:rPr>
              <a:t>Агент действует в среде и получает награду. Учится стратегии. Вернёмся к этому в теме про обучение языковых моделей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22 / 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с учителем: две главные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Регрессия — предсказываем число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Стоимость квартиры по её характеристикам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Спрос на товар на следующей неделе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Время доставки заказа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любое вещественное число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Классификация — предсказываем класс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Спам или не спам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Какая цифра на картинке: одна из десяти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Уйдёт клиент или останется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Ответ — метка из конечного набора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23 / 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Две задачи рядом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regression_vs_class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642" y="1572768"/>
            <a:ext cx="10204411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ответ — число, и модель проводит линию тренда. Справа ответ — метка класса, а границу нарисовала обученная логистическая регрессия: четыре объекта из 140 остались не на своей стороне — идеальной границы обычно не бывает.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24 / 58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Обучение без учителя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Кластеризация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Разбить клиентов на группы по поведению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Сгруппировать новости по сюжетам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Заранее неизвестно, какие группы получатся и сколько их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Снижение размерности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Сжать сотни признаков до двух и увидеть данные на графике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Убрать шум и избыточность перед обучением модели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Сюда же — поиск аномалий: что не похоже на остальное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25 / 58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Главный вопрос перед началом работы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47088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Что именно мы предсказываем и откуда возьмём правильные ответы?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Если на этот вопрос нет чёткого ответа — задачи машинного обучения ещё нет. Есть желание применить машинное обучение, а это не одно и то же.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26 / 58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устроена задача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Объекты, признаки, модель, функция потерь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Данные: объекты и признаки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Объект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о чём делаем предсказание: клиент, письмо, фотография, транзакция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Признак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измеримое свойство объекта: возраст, сумма покупки, длина текста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Целевая переменная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то, что предсказываем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Данные складывают в таблицу: строка — объект, столбец — признак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Столбцов обычно от десятка до тысяч, строк — от сотен до миллионов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28 / 58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выглядит выборка на самом деле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data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4481" y="1572768"/>
            <a:ext cx="8422733" cy="36789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452872"/>
            <a:ext cx="10637215" cy="1103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Классические данные о пассажирах «Титаника» — с ними будем работать на практике. Пропуски и категории вроде порта посадки здесь норма, а не исключение: вторая лекция целиком про то, как привести такую таблицу в пригодный для модели вид.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29 / 58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Обозначения, которые будут весь курс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Обучающая выборка из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n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объектов, у каждого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d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признаков:</a:t>
            </a:r>
          </a:p>
        </p:txBody>
      </p:sp>
      <p:pic>
        <p:nvPicPr>
          <p:cNvPr id="5" name="Picture 4" descr="39745a3efc1e62f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907" y="2185416"/>
            <a:ext cx="3611880" cy="475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53512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181D27"/>
                </a:solidFill>
                <a:latin typeface="Arial"/>
              </a:rPr>
              <a:t>Отдельный объект — строка матрицы, его ответ — соответствующий элемент вектора:</a:t>
            </a:r>
          </a:p>
        </p:txBody>
      </p:sp>
      <p:pic>
        <p:nvPicPr>
          <p:cNvPr id="7" name="Picture 6" descr="be3bdb5d8c99c1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1282" y="3429000"/>
            <a:ext cx="4469130" cy="411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33088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Задача — найти функцию, которая по признакам объекта выдаёт близкий к правильному ответ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30 / 58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Типы признаков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От типа зависит, что с признаком можно делать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048256"/>
          <a:ext cx="10637214" cy="2493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79403"/>
                <a:gridCol w="3799005"/>
                <a:gridCol w="4558806"/>
              </a:tblGrid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Примеры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Особенность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Количественный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Возраст, цена, температура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Можно складывать и усреднять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Порядковый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Оценка от 1 до 5, уровень образования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Порядок есть, расстояние между значениями —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Категориальный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Город, бренд, тип оплаты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Порядка нет, нужно кодировать числами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Бинарный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Подписан или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Частный случай категориального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Дата и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Момент покупки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Разворачивается в десяток полезных признаков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561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Текст, изображение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Отзыв, фотография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Требует отдельной обработки — вторая половина курса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31 / 58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и функция потерь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09928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Модель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функция с настраиваемыми параметрами, которая по признакам выдаёт предсказание:</a:t>
            </a:r>
          </a:p>
        </p:txBody>
      </p:sp>
      <p:pic>
        <p:nvPicPr>
          <p:cNvPr id="5" name="Picture 4" descr="dcbebac73f86b7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878" y="2185416"/>
            <a:ext cx="1789938" cy="4640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2942081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Функция потерь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измеряет, насколько предсказание разошлось с правдой на всей выборке:</a:t>
            </a:r>
          </a:p>
        </p:txBody>
      </p:sp>
      <p:pic>
        <p:nvPicPr>
          <p:cNvPr id="7" name="Picture 6" descr="2520c51c7827a7c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0159" y="3417569"/>
            <a:ext cx="4151376" cy="978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688585"/>
            <a:ext cx="10637215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81D27"/>
                </a:solidFill>
                <a:latin typeface="Arial"/>
              </a:rPr>
              <a:t>Обучение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это поиск параметров, при которых потери минимальны:</a:t>
            </a:r>
          </a:p>
        </p:txBody>
      </p:sp>
      <p:pic>
        <p:nvPicPr>
          <p:cNvPr id="9" name="Picture 8" descr="2186cdca8c808b4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0798" y="5164073"/>
            <a:ext cx="3070098" cy="5920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6048755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Вся первая половина курса — вариации на эту тему: разные f, разные ℓ, разные способы искать минимум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32 / 58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не обмануть самого себя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Самая важная часть лекции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Модель нужна не для того, чтобы запомнить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Можно построить модель, которая </a:t>
            </a:r>
            <a:r>
              <a:rPr sz="1800" b="1" i="0">
                <a:solidFill>
                  <a:srgbClr val="181D27"/>
                </a:solidFill>
                <a:latin typeface="Arial"/>
              </a:rPr>
              <a:t>идеально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отвечает на обучающих данных: просто запомнить все ответы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обучающей выборке будет стопроцентным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 новых данных такая модель бесполезна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Нам нужна обобщающая способность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качество на данных, которых модель не видела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Отсюда следует всё остальное в этом разделе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34 / 58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Разделение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rain_val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8650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639012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Тестовая выборка — как запечатанный конверт. Каждый раз, когда вы смотрите в неё и после этого что-то меняете в модели, вы понемногу подгоняете модель под тест, и честная оценка качества исчезает.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35 / 58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36 / 58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Модель отвечает правильно на 100% обучающих объектов. Что это говорит о её качестве?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отличная, можно отдавать в работу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Практически ничего не говорит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336499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Она недообучена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Данных слишком мало, нужно ещё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Практически ничего. Любую обучающую выборку можно просто запомнить: таблица «объект → ответ» даёт ровно 100% и нулевую пользу. Качество модели измеряется только на данных, которых она не видела.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37 / 58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Недообучение и переобучение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Недообучение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простая для данных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Плохое качество и на обучении, и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Прямая линия там, где зависимость изогнута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усложнением модели и лучшими признаками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1587" y="1572768"/>
            <a:ext cx="5112867" cy="3657600"/>
          </a:xfrm>
          <a:prstGeom prst="roundRect">
            <a:avLst>
              <a:gd name="adj" fmla="val 6000"/>
            </a:avLst>
          </a:prstGeom>
          <a:solidFill>
            <a:srgbClr val="FCEFEF"/>
          </a:solidFill>
          <a:ln>
            <a:noFill/>
          </a:ln>
          <a:effectLst/>
        </p:spPr>
        <p:txBody>
          <a:bodyPr rtlCol="0" anchor="t" wrap="square" lIns="256032" rIns="256032" tIns="219456" bIns="100584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0393B"/>
                </a:solidFill>
                <a:latin typeface="Arial"/>
              </a:rPr>
              <a:t>Переобучение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Модель слишком гибкая, выучила шум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Отличное качество на обучении, плохое на тесте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Кривая, проходящая ровно через каждую точку</a:t>
            </a:r>
          </a:p>
          <a:p>
            <a:pPr algn="l" marL="279400" indent="-279400">
              <a:lnSpc>
                <a:spcPct val="120000"/>
              </a:lnSpc>
              <a:spcAft>
                <a:spcPts val="800"/>
              </a:spcAft>
              <a:buClr>
                <a:srgbClr val="C0393B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Лечится упрощением, регуляризацией, бо́льшим объёмом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38 / 58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Одни и те же точки, три модели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72768"/>
            <a:ext cx="10637215" cy="29940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6795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Слева модель не смогла уловить закономерность, справа — уловила вместе с шумом. Обучающие точки во всех трёх случаях одинаковые: разница только в сложности модели.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39 / 58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Разрыв между качеством на обучении и на тесте — главный диагностический признак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Одинаково плохо и там, и там — недообучение. Хорошо на обучении и плохо на тесте — переобучение.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40 / 58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129743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72536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391535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912870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3186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553204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67220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193538"/>
            <a:ext cx="10637215" cy="512318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1253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41 / 58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1005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Предсказываем, вернёт ли клиент кредит. Какой признак почти наверняка испортит модель?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98064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Возраст клиента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852928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91840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Сумма и срок кредита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4670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85616"/>
            <a:ext cx="10637215" cy="3840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Число звонков от службы взыскания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8404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85876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279392"/>
            <a:ext cx="10637215" cy="38404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Регион проживания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33425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01184"/>
            <a:ext cx="10637215" cy="1353312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Звонки от службы взыскания. Они появляются только после того, как клиент перестал платить, — то есть уже содержат ответ. На обучении такая модель покажет почти идеальный результат, а в работе окажется бесполезной: в момент выдачи кредита этого признака ещё не существует.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42 / 58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Утечка данных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Ошибка, которая убивает больше моделей, чем все остальные вместе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(data leakage)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когда в признаках оказывается информация, недоступная в момент реального предсказания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Модель показывает превосходное качество на валидации и разваливается в продакшене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Коварство в том, что метрики выглядят прекрасно — и это радует, а не настораживает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Правило: спрашивайте себя, будет ли этот признак известен в момент, когда предсказание реально понадобится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43 / 58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Чем заканчивается утечка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leakage_re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1006" y="1572768"/>
            <a:ext cx="8049683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Модель с утечкой показывает прекрасный результат ровно до того момента, как попадает к реальным данным. Честная модель скромнее на бумаге, но её результат воспроизводится.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44 / 58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Пять типичных утечек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572768"/>
          <a:ext cx="10637214" cy="208566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4432172"/>
                <a:gridCol w="6205042"/>
              </a:tblGrid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Что произошло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1" i="0">
                          <a:solidFill>
                            <a:srgbClr val="6B7484"/>
                          </a:solidFill>
                          <a:latin typeface="Arial"/>
                        </a:rPr>
                        <a:t>Почему это утечка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Признак «дата закрытия счёта» при предсказании оттока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Счёт закрывают уже после оттока — в момент предсказания даты нет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Масштабирование посчитано на всех данных сразу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Среднее и разброс тестовой выборки подсмотрены при обучении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Заполнение пропусков средним по всему датасету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То же самое: тест повлиял на обучение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Дубликаты объектов разъехались между train и test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отвечает на тесте по памяти, а не по обобщению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  <a:tr h="34761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Случайное разбиение данных, у которых есть время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500" b="0" i="0">
                          <a:solidFill>
                            <a:srgbClr val="181D27"/>
                          </a:solidFill>
                          <a:latin typeface="Arial"/>
                        </a:rPr>
                        <a:t>Модель учится на будущем и предсказывает прошлое</a:t>
                      </a:r>
                    </a:p>
                  </a:txBody>
                  <a:tcPr marL="109728" marR="109728" marT="64008" marB="64008" anchor="ctr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rgbClr val="DD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45 / 58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Как от этого защищаться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Все преобразования — внутри пайплайна, который обучается только на 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32683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1. Сначала делим данные — до любой обработки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X_train, X_test, y_train, y_test = train_test_split(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X, y, test_size=0.2, random_state=42, stratify=y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2. Все преобразования собираем в пайплайн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model = Pipeline([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("scaler", StandardScaler()),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   ("clf", LogisticRegression(max_iter=1000)),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])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6B7484"/>
                </a:solidFill>
                <a:latin typeface="Courier New"/>
              </a:rPr>
              <a:t># 3. При кросс-валидации scaler обучается заново на каждом фолде</a:t>
            </a:r>
          </a:p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181D27"/>
                </a:solidFill>
                <a:latin typeface="Courier New"/>
              </a:rPr>
              <a:t>scores = cross_val_score(model, X_train, y_train, cv=5)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499480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Пайплайн — не косметика, а защита от утечки. Разберём подробно на второй лекции и будем требовать во всех домашних работах.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46 / 58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Как подходить к задаче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4600" y="3566160"/>
            <a:ext cx="8412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Порядок действий, который экономит недели</a:t>
            </a:r>
          </a:p>
        </p:txBody>
      </p:sp>
      <p:sp>
        <p:nvSpPr>
          <p:cNvPr id="5" name="Rectangle 4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Жизненный цикл ML-проекта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Постановка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что предсказываем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как измеряем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36418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0192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Данные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сбор, чистка,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886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2661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Признаки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преобразование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и отбор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1355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129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Модель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обучение,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подбор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38236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75980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Оценка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проверка,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анализ ошибок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662921" y="2523744"/>
            <a:ext cx="164592" cy="155448"/>
          </a:xfrm>
          <a:prstGeom prst="rightArrow">
            <a:avLst>
              <a:gd name="adj1" fmla="val 42000"/>
              <a:gd name="adj2" fmla="val 52000"/>
            </a:avLst>
          </a:prstGeom>
          <a:solidFill>
            <a:srgbClr val="A8B0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900665" y="1984248"/>
            <a:ext cx="1513789" cy="1234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146304" rIns="146304" tIns="100584" bIns="100584"/>
          <a:lstStyle/>
          <a:p>
            <a:pPr algn="ctr"/>
            <a:r>
              <a:rPr sz="1400" b="1" i="0">
                <a:solidFill>
                  <a:srgbClr val="181D27"/>
                </a:solidFill>
                <a:latin typeface="Arial"/>
              </a:rPr>
              <a:t>Внедрение</a:t>
            </a:r>
          </a:p>
          <a:p>
            <a:pPr algn="ctr">
              <a:lnSpc>
                <a:spcPct val="112000"/>
              </a:lnSpc>
              <a:spcAft>
                <a:spcPts val="300"/>
              </a:spcAft>
            </a:pPr>
            <a:r>
              <a:rPr sz="1200" b="0" i="0">
                <a:solidFill>
                  <a:srgbClr val="6B7484"/>
                </a:solidFill>
                <a:latin typeface="Arial"/>
              </a:rPr>
              <a:t>сервис,</a:t>
            </a:r>
          </a:p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6B7484"/>
                </a:solidFill>
                <a:latin typeface="Arial"/>
              </a:rPr>
              <a:t>мониторинг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30168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Стрелки идут не только вперёд. Оценка почти всегда отправляет обратно к признакам или к данным, а иногда и к постановке задачи. Реальный проект — это несколько кругов, а не один проход.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48 / 58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82496"/>
            <a:ext cx="10637215" cy="900176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84048" rIns="384048" tIns="100584" bIns="100584"/>
          <a:lstStyle/>
          <a:p>
            <a:pPr algn="l">
              <a:lnSpc>
                <a:spcPct val="122000"/>
              </a:lnSpc>
            </a:pPr>
            <a:r>
              <a:rPr sz="2300" b="1" i="0">
                <a:solidFill>
                  <a:srgbClr val="181D27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75280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043936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614928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83584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354576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523232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094224"/>
            <a:ext cx="10637215" cy="611632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181D27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262880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B5CE6"/>
                </a:solidFill>
                <a:latin typeface="Arial"/>
              </a:rPr>
              <a:t>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888736"/>
            <a:ext cx="1063721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700" b="0" i="1">
                <a:solidFill>
                  <a:srgbClr val="6B7484"/>
                </a:solidFill>
                <a:latin typeface="Arial"/>
              </a:rPr>
              <a:t>Ответьте про себя, прежде чем перевернуть слайд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49 / 58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Проверим интуицию — разбор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572768"/>
            <a:ext cx="10637215" cy="694944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ctr" wrap="square" lIns="347472" rIns="347472" tIns="100584" bIns="100584"/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6B7484"/>
                </a:solidFill>
                <a:latin typeface="Arial"/>
              </a:rPr>
              <a:t>На что в ML-проекте уходит больше всего времени?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487168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обучение моделей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580513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057906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подбор гиперпараметров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51251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28644"/>
            <a:ext cx="10637215" cy="461010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12700">
            <a:solidFill>
              <a:srgbClr val="1B8A5A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1" i="0">
                <a:solidFill>
                  <a:srgbClr val="181D27"/>
                </a:solidFill>
                <a:latin typeface="Arial"/>
              </a:rPr>
              <a:t>На данные: поиск, чистку, признаки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21989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8A5A"/>
                </a:solidFill>
                <a:latin typeface="Arial"/>
              </a:rPr>
              <a:t>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7175" y="374027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400" b="1" i="0">
                <a:solidFill>
                  <a:srgbClr val="1B8A5A"/>
                </a:solidFill>
                <a:latin typeface="Arial"/>
              </a:rPr>
              <a:t>верно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99382"/>
            <a:ext cx="10637215" cy="46101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DDE2E9"/>
            </a:solidFill>
          </a:ln>
          <a:effectLst/>
        </p:spPr>
        <p:txBody>
          <a:bodyPr rtlCol="0" anchor="ctr" wrap="square" lIns="749808" rIns="1188720" tIns="100584" bIns="100584"/>
          <a:lstStyle/>
          <a:p>
            <a:pPr algn="l">
              <a:lnSpc>
                <a:spcPct val="116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На отчёт и презентацию результата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2727"/>
            <a:ext cx="4572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A8B0BC"/>
                </a:solidFill>
                <a:latin typeface="Arial"/>
              </a:rPr>
              <a:t>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898136"/>
            <a:ext cx="10637215" cy="135636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365760" rIns="365760" tIns="237744" bIns="237744"/>
          <a:lstStyle/>
          <a:p>
            <a:pPr algn="l">
              <a:lnSpc>
                <a:spcPct val="124000"/>
              </a:lnSpc>
            </a:pPr>
            <a:r>
              <a:rPr sz="1700" b="0" i="0">
                <a:solidFill>
                  <a:srgbClr val="181D27"/>
                </a:solidFill>
                <a:latin typeface="Arial"/>
              </a:rPr>
              <a:t>На данные — обычно 60–80% времени. Обучить модель в scikit-learn это три строки; найти данные, понять их, починить и превратить в признаки — недели. Поэтому следующая лекция целиком про данные.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50 / 58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 что на самом деле уходит время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pic>
        <p:nvPicPr>
          <p:cNvPr id="4" name="Picture 3" descr="time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15" y="1572768"/>
            <a:ext cx="9278466" cy="39552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729224"/>
            <a:ext cx="10637215" cy="827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Обучение моделей — самая заметная часть работы и далеко не самая долгая. Больше всего времени уходит на данные: их нужно найти, понять, почистить и превратить в признаки.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51 / 58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eme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628" y="566928"/>
            <a:ext cx="6846439" cy="56967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52 / 58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Начинайте с тупого решения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Baseline-first — правило, которое стоит усвоить сразу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48256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Baseline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простейшее решение, с которым сравнивают всё остальное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регрессии: всегда предсказывать среднее значение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Для классификации: всегда предсказывать самый частый класс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Следующий шаг — простая модель на нескольких очевидных признаках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Зачем это нужно: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Показывает, есть ли в задаче вообще сигнал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Даёт точку отсчёта: рост качества на 2% — это много или мало?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Быстро вскрывает проблемы с данными и утечки</a:t>
            </a:r>
          </a:p>
          <a:p>
            <a:pPr algn="l" marL="660400" indent="-203200">
              <a:lnSpc>
                <a:spcPct val="122000"/>
              </a:lnSpc>
              <a:spcAft>
                <a:spcPts val="700"/>
              </a:spcAft>
              <a:buClr>
                <a:srgbClr val="A8B0BC"/>
              </a:buClr>
              <a:buFont typeface="Arial"/>
              <a:buChar char="·"/>
            </a:pPr>
            <a:r>
              <a:rPr sz="1600" b="0" i="0">
                <a:solidFill>
                  <a:srgbClr val="6B7484"/>
                </a:solidFill>
                <a:latin typeface="Arial"/>
              </a:rPr>
              <a:t>Иногда baseline оказывается достаточным, и проект на этом закончен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53 / 58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2103120"/>
            <a:ext cx="10637215" cy="2103120"/>
          </a:xfrm>
          <a:prstGeom prst="roundRect">
            <a:avLst>
              <a:gd name="adj" fmla="val 6000"/>
            </a:avLst>
          </a:prstGeom>
          <a:solidFill>
            <a:srgbClr val="E8EEFD"/>
          </a:solidFill>
          <a:ln>
            <a:noFill/>
          </a:ln>
          <a:effectLst/>
        </p:spPr>
        <p:txBody>
          <a:bodyPr rtlCol="0" anchor="ctr" wrap="square" lIns="502920" rIns="502920" tIns="100584" bIns="100584"/>
          <a:lstStyle/>
          <a:p>
            <a:pPr algn="ctr">
              <a:lnSpc>
                <a:spcPct val="125000"/>
              </a:lnSpc>
              <a:spcAft>
                <a:spcPts val="1400"/>
              </a:spcAft>
            </a:pPr>
            <a:r>
              <a:rPr sz="2300" b="1" i="0">
                <a:solidFill>
                  <a:srgbClr val="181D27"/>
                </a:solidFill>
                <a:latin typeface="Arial"/>
              </a:rPr>
              <a:t>Модель, которая на 3% лучше, но требует месяц работы и сложного внедрения, часто проигрывает baseline</a:t>
            </a:r>
          </a:p>
          <a:p>
            <a:pPr algn="ctr">
              <a:lnSpc>
                <a:spcPct val="125000"/>
              </a:lnSpc>
            </a:pPr>
            <a:r>
              <a:rPr sz="1700" b="0" i="0">
                <a:solidFill>
                  <a:srgbClr val="6B7484"/>
                </a:solidFill>
                <a:latin typeface="Arial"/>
              </a:rPr>
              <a:t>Хорошее инженерное решение — не самое точное, а то, у которого лучшее отношение пользы к стоимости.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54 / 58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Единый интерфейс scikit-learn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6B7484"/>
                </a:solidFill>
                <a:latin typeface="Arial"/>
              </a:rPr>
              <a:t>Один и тот же код работает для любой модели — меняется одна строка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48256"/>
            <a:ext cx="10637215" cy="28854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txBody>
          <a:bodyPr rtlCol="0" anchor="t" wrap="square" lIns="274320" rIns="146304" tIns="182880" bIns="100584"/>
          <a:lstStyle/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sklearn.ensemble import RandomForestClassifier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from sklearn.metrics import accuracy_score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 = RandomForestClassifier(n_estimators=200, random_state=42)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model.fit(X_train, y_train)              # обучение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predictions = model.predict(X_test)      # предсказание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probabilities = model.predict_proba(X_test)   # вероятности классов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 </a:t>
            </a:r>
          </a:p>
          <a:p>
            <a:pPr algn="l">
              <a:lnSpc>
                <a:spcPct val="116000"/>
              </a:lnSpc>
            </a:pPr>
            <a:r>
              <a:rPr sz="1400" b="0" i="0">
                <a:solidFill>
                  <a:srgbClr val="181D27"/>
                </a:solidFill>
                <a:latin typeface="Courier New"/>
              </a:rPr>
              <a:t>print(accuracy_score(y_test, predictions))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116576"/>
            <a:ext cx="1063721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B7484"/>
                </a:solidFill>
                <a:latin typeface="Arial"/>
              </a:rPr>
              <a:t>fit — обучить, predict — предсказать, transform — преобразовать. Этих трёх методов хватает почти на весь классический ML. Заменив одну строку с моделью, вы получаете другой алгоритм без изменения остального кода.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55 / 58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400" b="1" i="0">
                <a:solidFill>
                  <a:srgbClr val="E8EEFD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14600" y="2487168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>
                <a:solidFill>
                  <a:srgbClr val="181D27"/>
                </a:solidFill>
                <a:latin typeface="Arial"/>
              </a:rPr>
              <a:t>Итоги</a:t>
            </a:r>
          </a:p>
        </p:txBody>
      </p:sp>
      <p:sp>
        <p:nvSpPr>
          <p:cNvPr id="4" name="Rectangle 3"/>
          <p:cNvSpPr/>
          <p:nvPr/>
        </p:nvSpPr>
        <p:spPr>
          <a:xfrm>
            <a:off x="2514600" y="3401568"/>
            <a:ext cx="146304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нужно унести с этой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37215" cy="45994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Машинное обучение выводит правила из данных — там, где выписать их вручную невозможно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Задача определяется тройкой: что предсказываем, откуда ответы, как измеряем успех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Обучение — это минимизация функции потерь по параметрам модели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Качество на обучающих данных ничего не значит. Значение имеет только качество на данных, которых модель не видела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1" i="0">
                <a:solidFill>
                  <a:srgbClr val="181D27"/>
                </a:solidFill>
                <a:latin typeface="Arial"/>
              </a:rPr>
              <a:t>Утечка данных</a:t>
            </a:r>
            <a:r>
              <a:rPr sz="1800" b="0" i="0">
                <a:solidFill>
                  <a:srgbClr val="181D27"/>
                </a:solidFill>
                <a:latin typeface="Arial"/>
              </a:rPr>
              <a:t> — главная причина, по которой отличные на бумаге модели проваливаются в реальности</a:t>
            </a:r>
          </a:p>
          <a:p>
            <a:pPr algn="l" marL="330200" indent="-330200">
              <a:lnSpc>
                <a:spcPct val="122000"/>
              </a:lnSpc>
              <a:spcAft>
                <a:spcPts val="1100"/>
              </a:spcAft>
              <a:buClr>
                <a:srgbClr val="2B5CE6"/>
              </a:buClr>
              <a:buFont typeface="Arial"/>
              <a:buChar char="—"/>
            </a:pPr>
            <a:r>
              <a:rPr sz="1800" b="0" i="0">
                <a:solidFill>
                  <a:srgbClr val="181D27"/>
                </a:solidFill>
                <a:latin typeface="Arial"/>
              </a:rPr>
              <a:t>Начинать всегда с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57 / 58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181D27"/>
                </a:solidFill>
                <a:latin typeface="Arial"/>
              </a:rPr>
              <a:t>Что делать дальше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80160"/>
            <a:ext cx="1371600" cy="31750"/>
          </a:xfrm>
          <a:prstGeom prst="rect">
            <a:avLst/>
          </a:prstGeom>
          <a:solidFill>
            <a:srgbClr val="2B5CE6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Практика 1: NumPy, pandas и первый baseline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Освежить основы Python, если давно не писали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Завести аккаунт на Kaggle — понадобится для соревнования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572768"/>
            <a:ext cx="5090007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81D27"/>
                </a:solidFill>
                <a:latin typeface="Arial"/>
              </a:rPr>
              <a:t>Что почитать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075688"/>
            <a:ext cx="5090007" cy="4096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Документация scikit-learn — раздел Getting Started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Andrew Ng, «Machine Learning Yearning» — про постановку задач, без формул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Kaggle Learn — короткие практические уроки</a:t>
            </a:r>
          </a:p>
          <a:p>
            <a:pPr algn="l" marL="279400" indent="-279400">
              <a:lnSpc>
                <a:spcPct val="122000"/>
              </a:lnSpc>
              <a:spcAft>
                <a:spcPts val="900"/>
              </a:spcAft>
              <a:buClr>
                <a:srgbClr val="2B5CE6"/>
              </a:buClr>
              <a:buFont typeface="Arial"/>
              <a:buChar char="—"/>
            </a:pPr>
            <a:r>
              <a:rPr sz="1600" b="0" i="0">
                <a:solidFill>
                  <a:srgbClr val="181D27"/>
                </a:solidFill>
                <a:latin typeface="Arial"/>
              </a:rPr>
              <a:t>Стэнфордский курс CS229 — если хочется математической строгости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82512"/>
            <a:ext cx="638232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A8B0BC"/>
                </a:solidFill>
                <a:latin typeface="Arial"/>
              </a:rPr>
              <a:t>Машинное обучение · Лекция 1.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00" b="0" i="0">
                <a:solidFill>
                  <a:srgbClr val="A8B0BC"/>
                </a:solidFill>
                <a:latin typeface="Arial"/>
              </a:rPr>
              <a:t>58 / 58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
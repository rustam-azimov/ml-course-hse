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Решающие деревья и непараметрические методы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Когда линейной модели недостаточно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Чего не умеет линейная модель?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Ловить нелинейные зависимости без ручного конструирования признаков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Учитывать взаимодействия: «скидка работает только на выходных и только в столице»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Работать с категориями без предварительного кодирования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Обходиться без масштабирования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Сегодня — методы, у которых этих ограничений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Границы решений: линия против прямоугольников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linear_vs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6186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92540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Одни и те же данные. Линейная модель проводит прямую — и всё. Дерево режет плоскость на прямоугольники и обводит любую форму, а без ограничения глубины доходит до прямоугольника под каждую точку: 1.00 на обучении и ничего на тесте.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Решающие деревья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Идея: последовательность вопросов вместо формулы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ee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805" y="1572768"/>
            <a:ext cx="9426084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Объект спускается от корня к листу, отвечая на вопросы. Глубина дерева — длина этого пути, то есть сколько вопросов успели задать.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Дерево режет пространство на прямоугольники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ee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258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032217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Каждое условие вида «признак &lt; порога» — одна прямая линия. Несколько условий нарезают плоскость на прямоугольники, внутри которых дерево отвечает одинаково. Выбирают то разбиение, которое сильнее снижает неоднородность узла.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строится дерево?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Все объекты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в корне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76523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14267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Перебор разбиений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все признаки,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все пороги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13551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51295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Лучшее разбиение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по критерию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информативности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50579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88323" y="1984248"/>
            <a:ext cx="2426131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Рекурсия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то же для каждой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части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181D27"/>
                </a:solidFill>
                <a:latin typeface="Arial"/>
              </a:rPr>
              <a:t>Алгоритм жадный: на каждом шаге выбирается лучшее разбиение здесь и сейчас, без оглядки на то, что будет дальше. Оптимальное дерево искать вычислительно неподъёмно, а жадное работает достаточно хорошо.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Критерии информативности: классификация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Энтропия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мера неопределённости в узле:</a:t>
            </a:r>
          </a:p>
        </p:txBody>
      </p:sp>
      <p:pic>
        <p:nvPicPr>
          <p:cNvPr id="5" name="Picture 4" descr="242cb8988edb3c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665" y="2185416"/>
            <a:ext cx="2912364" cy="7726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25069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Индекс Джини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вероятность ошибки случайного угадывания:</a:t>
            </a:r>
          </a:p>
        </p:txBody>
      </p:sp>
      <p:pic>
        <p:nvPicPr>
          <p:cNvPr id="7" name="Picture 6" descr="7560da988ef4f8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426" y="3726180"/>
            <a:ext cx="2164842" cy="7726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79145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Оба равны нулю, когда в узле объекты одного класса, и максимальны при равномерной смеси. На практике различия невелики, Джини считается быстрее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Неоднородность и прирост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impurity_crite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565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39179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Слева: все три меры устроены одинаково — ноль в чистом узле, максимум при смеси пополам. Справа — тот самый пример: Джини до и после, взвешенная сумма, прирост.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Деревья и данные «как есть»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Два свойства, за которые деревья любят на практике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Категории.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Дерево может разбивать по подмножеству значений: «город ∈ {Москва, Питер}». Правда, в scikit-learn этого нет — там нужно кодировать заранее, а вот LightGBM и CatBoost умеют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Пропуски.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Дерево может отправлять объекты с пропуском в ту ветвь, где они лучше подходят. Это тоже есть в бустингах, но не в базовой реализации scikit-learn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Монотонные преобразования и масштаб не важны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дерево смотрит на порядок значений, а не на сами значения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Отсюда практика: для деревьев можно почти не готовить данные, для линейных моделей — обязательно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Логарифм ничего не меняет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ee_monoto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5638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37779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Один признак в рублях и в логарифме. Порог выглядит по-разному — 47 434 ₽ и 10.77 — но режет выборку в одном месте: слева те же 157 объектов.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Деревья для регрессии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Критерий меняется с Джини на дисперсию, в листе предсказывается среднее</a:t>
            </a:r>
          </a:p>
        </p:txBody>
      </p:sp>
      <p:pic>
        <p:nvPicPr>
          <p:cNvPr id="5" name="Picture 4" descr="tree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27" y="2048256"/>
            <a:ext cx="9866841" cy="344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Отсюда ступеньки вместо гладкой кривой. Справа главное ограничение: за краем обучающих данных дерево держит константу, а линейная модель продолжает тренд.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Сильные и слабые стороны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Достоинства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 нужно масштабирование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Работают с категориями и пропусками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Ловят нелинейности и взаимодействия автоматически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Интерпретируемы: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дерево можно нарисовать и показать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Быстрое предсказание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Недостатки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Легко переобучаются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без ограничений выучат выборку наизусть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Неустойчивы: небольшое изменение данных даёт совсем другое дерево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Плохо приближают гладкие зависимости — ответ ступенчатый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 умеют экстраполировать за пределы обучающих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tre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491" y="566928"/>
            <a:ext cx="5696712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Дерево растёт без ограничения глубины. Что оно покажет на обучающей выборке?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Около 80% правильных ответов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100% — доведёт листья до чистоты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Столько же, сколько на тесте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Зависит от масштаба признаков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Дерево растёт без ограничения глубины. Что оно покажет на обучающей выборке?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Около 80% правильных ответов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100% — доведёт листья до чистоты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1501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Столько же, сколько на тесте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Зависит от масштаба признаков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100%: дерево дробит выборку, пока в каждом листе не останутся объекты одного класса — в пределе по одному объекту на лист. Именно поэтому глубину, минимальный размер листа и минимальное число объектов для разбиения ограничивают всегда.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ограничить рост дерева?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Главные гиперпараметры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22044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72989"/>
                <a:gridCol w="4091236"/>
                <a:gridCol w="3272989"/>
              </a:tblGrid>
              <a:tr h="367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Смысл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Эффект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67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max_depth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Максимальная глубина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Основной регулятор сложности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67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min_samples_leaf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Минимум объектов в листе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Запрещает листья из одного объекта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67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min_samples_split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Минимум объектов для разбиения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Останавливает деление мелких узлов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67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max_features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Сколько признаков рассматривать при разбиении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Вносит случайность, снижает разброс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67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ccp_alpha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Штраф за число листьев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Стрижка дерева после построения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делает глубина?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ee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79" y="1572768"/>
            <a:ext cx="9575937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Глубина 1 — одна линия, глубина 4 — разумная граница, без ограничения — островки под отдельные точки. Справа главное: на обучении доля верных дорастает до единицы, на тесте не растёт после шестой.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Дерево целиком видно глазами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Courier New"/>
              </a:rPr>
              <a:t>plot_tree</a:t>
            </a:r>
            <a:r>
              <a:rPr sz="2000" b="0" i="0">
                <a:solidFill>
                  <a:srgbClr val="181D27"/>
                </a:solidFill>
                <a:latin typeface="Arial"/>
              </a:rPr>
              <a:t> рисует картинку, </a:t>
            </a:r>
            <a:r>
              <a:rPr sz="2000" b="0" i="0">
                <a:solidFill>
                  <a:srgbClr val="181D27"/>
                </a:solidFill>
                <a:latin typeface="Courier New"/>
              </a:rPr>
              <a:t>export_text</a:t>
            </a:r>
            <a:r>
              <a:rPr sz="2000" b="0" i="0">
                <a:solidFill>
                  <a:srgbClr val="181D27"/>
                </a:solidFill>
                <a:latin typeface="Arial"/>
              </a:rPr>
              <a:t> печатает то же самое текстом</a:t>
            </a:r>
          </a:p>
        </p:txBody>
      </p:sp>
      <p:pic>
        <p:nvPicPr>
          <p:cNvPr id="5" name="Picture 4" descr="plot_tree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566" y="2048256"/>
            <a:ext cx="7616564" cy="344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Решение модели можно пересказать заказчику дословно: доход ниже 55 500 и возраст до 45 — отказ. Ни одна другая модель курса такого не позволяет.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Метод ближайших соседей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без обучения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Идея: спросить у похожих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Обучения как такового нет: модель запоминает выборку, вся работа — в момент предсказания</a:t>
            </a:r>
          </a:p>
        </p:txBody>
      </p:sp>
      <p:pic>
        <p:nvPicPr>
          <p:cNvPr id="5" name="Picture 4" descr="knn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42" y="2048256"/>
            <a:ext cx="7539410" cy="344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Находим k ближайших объектов и устраиваем голосование. На одних и тех же данных k = 3 и k = 11 дают разные ответы.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Соседи найдены — 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knn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5399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13897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Пять похожих квартир и их цены. Среднее тянет вверх одна квартира с ремонтом, медиана её игнорирует, взвешивание отдаёт голос ближайшим. Для регрессии по соседям медиана часто надёжнее среднего.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Меры расстояния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Евклидово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обычное расстояние по прямой:</a:t>
            </a:r>
          </a:p>
        </p:txBody>
      </p:sp>
      <p:pic>
        <p:nvPicPr>
          <p:cNvPr id="5" name="Picture 4" descr="0357b7c1b1b5c9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453" y="2185416"/>
            <a:ext cx="4034789" cy="12138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69189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Манхэттенское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сумма модулей разностей по координатам:</a:t>
            </a:r>
          </a:p>
        </p:txBody>
      </p:sp>
      <p:pic>
        <p:nvPicPr>
          <p:cNvPr id="7" name="Picture 6" descr="ca2052ebd3a41c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924" y="4167378"/>
            <a:ext cx="3339846" cy="10812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54126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текстов и разреженных данных чаще берут косинусное расстояние — оно измеряет угол между векторами, а не их длину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выглядит «одинаковое расстояние»?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distanc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82" y="1572768"/>
            <a:ext cx="10492132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Точки, равноудалённые от центра: ромб, круг и квадрат. Манхэттенское расстояние считает шаги вдоль осей, Чебышёва смотрит только на самую большую из разниц.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методе k ближайших соседей взяли k = 1. Какой будет ошибка на обучающей выборке?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Нулевая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Примерно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Такая же, как на тесте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Зависит от выбранной меры расстояния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методе k ближайших соседей взяли k = 1. Какой будет ошибка на обучающей выборке?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Нулевая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25923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Примерно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Такая же, как на тесте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Зависит от выбранной меры расстояния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Нулевая: ближайший сосед любого обучающего объекта — он сам. Это чистое переобучение, а не признак хорошей модели. С ростом k граница сглаживается, так что k управляет балансом между разбросом и смещением, и подбирают его только по валидации.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Выбор числа соседей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kn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3667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40705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 k = 1 граница повторяет каждый объект вместе с шумом. При k = 100 усреднение идёт по слишком широкой окрестности и деталей не остаётся. Оптимум подбирают по кросс-валидации — обычно это единицы или десятки.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метод ищет соседей быстро?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В scikit-learn способ выбирает параметр </a:t>
            </a:r>
            <a:r>
              <a:rPr sz="2000" b="0" i="0">
                <a:solidFill>
                  <a:srgbClr val="181D27"/>
                </a:solidFill>
                <a:latin typeface="Courier New"/>
              </a:rPr>
              <a:t>algorithm</a:t>
            </a:r>
            <a:r>
              <a:rPr sz="2000" b="0" i="0">
                <a:solidFill>
                  <a:srgbClr val="181D27"/>
                </a:solidFill>
                <a:latin typeface="Arial"/>
              </a:rPr>
              <a:t>, по умолчанию </a:t>
            </a:r>
            <a:r>
              <a:rPr sz="2000" b="0" i="0">
                <a:solidFill>
                  <a:srgbClr val="181D27"/>
                </a:solidFill>
                <a:latin typeface="Courier New"/>
              </a:rPr>
              <a:t>auto</a:t>
            </a:r>
          </a:p>
        </p:txBody>
      </p:sp>
      <p:pic>
        <p:nvPicPr>
          <p:cNvPr id="5" name="Picture 4" descr="neighbor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532" y="2048256"/>
            <a:ext cx="9674631" cy="344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KD-дерево отсекает целые области и работает примерно до двадцати признаков, Ball-дерево режет на шары и держится дольше. На миллиардах векторов берут приближённый поиск — HNSW, FAISS.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Метод ближайших соседей полностью зависит от масштаба признаков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возраст измеряется в годах, а доход в рублях, расстояние определяется практически только доходом. Масштабирование здесь не рекомендация, а необходимое условие работы.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Признаков стало 500 вместо 10. Что произойдёт с методом ближайших соседей?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Станет точнее — информации больше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Расстояния выровняются, и метод сломается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Ничего не изменится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 начнёт работать быстрее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Признаков стало 500 вместо 10. Что произойдёт с методом ближайших соседей?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Станет точнее — информации больше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Расстояния выровняются, и метод сломается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054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Ничего не изменится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 начнёт работать быстрее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высокой размерности расстояния между всеми парами объектов становятся почти одинаковыми: «ближайший» перестаёт отличаться от «дальнего», и соседство теряет смысл. Отсюда обязательный отбор признаков или снижение размерности перед методом соседей — и общее правило: на широких данных начинать лучше с деревьев.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Проклятие размерности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При десятках признаков метод резко слабеет — помогает снижение размерности из лекции 7</a:t>
            </a:r>
          </a:p>
        </p:txBody>
      </p:sp>
      <p:pic>
        <p:nvPicPr>
          <p:cNvPr id="5" name="Picture 4" descr="curse_dimensi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8256"/>
            <a:ext cx="10637215" cy="34147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64199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— расстояние до ближайшего объекта, делённое на расстояние до самого дальнего: 0.001 при одном признаке и 0.79 при двухстах. Справа — доля объёма куба у его стенок.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Где метод соседей уместен?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Несмотря на все ограничения, у него есть своя ниша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Мало признаков, много объектов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классический табличный случай с двумя-тремя измерениями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Рекомендации по схожести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найти похожих пользователей или товары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Поиск по эмбеддингам.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Признаки уже сжаты нейросетью до сотни осмысленных измерений — и метод отлично работает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Заполнение пропусков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KNNImputer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берёт значение у похожих объектов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Быстрый baseline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обучение занимает ноль времени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Во второй части курса мы вернёмся к нему: поиск ближайших соседей в пространстве эмбеддингов — основа RAG-систем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Ещё два метода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Коротко, но знать полезно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Наивный байесовский классификатор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Опирается на формулу Байеса: считаем вероятность класса при данных признаках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Наивное предположение: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все признаки независимы при известном классе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Предположение почти всегда ложно, но метод всё равно неплохо работает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Вероятностям верить нельзя, меткам — иногда можно: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оценки смещены, но порядок классов часто сохраняется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Обучается за один проход по данным — исключительно быстро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Классическое применение — фильтрация спама и классификация текстов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Сегодня используется в основном как мгновенный baseline: если он даёт приемлемое качество, задача проще, чем казалась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Наивный байесовский классификатор считает признаки независимыми. В тексте слова очевидно зависимы. Почему он всё-таки работает?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Предположение почти выполняется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Важен порядок классов, а не точность вероятностей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Зависимость исчезает после приведения к нижнему регистру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 и не работает, это чисто учебный пример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Наивный байесовский классификатор считает признаки независимыми. В тексте слова очевидно зависимы. Почему он всё-таки работает?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Предположение почти выполняется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Важен порядок классов, а не точность вероятностей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Зависимость исчезает после приведения к нижнему регистру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 и не работает, это чисто учебный пример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Оценки вероятностей у него смещены и часто совсем неправдоподобны, но для классификации нужно не число, а какой класс победил. Порядок классов ошибки от нарушенной независимости переживает — поэтому наивный Байес до сих пор остаётся приличным быстрым baseline для текстов.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Формула, на которой всё стоит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Вероятность класса при данных признаках по теореме Байеса:</a:t>
            </a:r>
          </a:p>
        </p:txBody>
      </p:sp>
      <p:pic>
        <p:nvPicPr>
          <p:cNvPr id="5" name="Picture 4" descr="a638d10bcdb97f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784" y="2185416"/>
            <a:ext cx="3294126" cy="589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0678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Наивное предположение о независимости превращает произведение в простое:</a:t>
            </a:r>
          </a:p>
        </p:txBody>
      </p:sp>
      <p:pic>
        <p:nvPicPr>
          <p:cNvPr id="7" name="Picture 6" descr="e907982fd5812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910" y="3543300"/>
            <a:ext cx="3563874" cy="10812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91718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Знаменатель одинаков для всех классов, поэтому его не считают — достаточно сравнить числители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считает наивный Байес?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naive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118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892884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 каждому признаку смотрим, насколько значение объекта правдоподобно для каждого класса, и перемножаем — вот здесь и работает наивное предположение. Побеждает больший 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Метод опорных векторов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Идея, которую стоит знать; выводов не будет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Ищет разделяющую границу с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максимальным зазором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до ближайших объектов классов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Объекты, лежащие на границе зазора, называются опорными векторами — только они и определяют решение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Ядровый переход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позволяет строить нелинейные границы, не вычисляя новые признаки явно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Работает хорошо при малом числе объектов и большом числе признаков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Плохо масштабируется: на выборках свыше десятков тысяч объектов становится очень медленным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Не даёт вероятностей напрямую и требует масштабирования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Зазор и опорные векторы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vm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329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03677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Слева: разделяющих прямых много, метод берёт прямую с самым широким зазором. Дальше — что делает C: мягкий зазор держат двенадцать опорных векторов, жёсткий опирается на три. Формально минимизируется ширина зазора плюс штраф за нарушителей — hinge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Ядра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Чем заменить скалярное произведение, чтобы получить нелинейную границу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263111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01058"/>
                <a:gridCol w="7736156"/>
              </a:tblGrid>
              <a:tr h="52622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Ядро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 применяют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622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Линейное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Много признаков, мало объектов. Тексты, генетика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622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RBF (гауссово)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Выбор по умолчанию для нелинейных задач. Параметр gamma задаёт «радиус влияния» объекта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622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Полиномиальное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Когда важны взаимодействия признаков фиксированного порядка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26222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Своё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Можно задать любую функцию сходства — например, для графов или строк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Gamma на одних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C и gamma настраиваются только вместе — оба управляют сложностью, </a:t>
            </a:r>
            <a:r>
              <a:rPr sz="2000" b="0" i="0">
                <a:solidFill>
                  <a:srgbClr val="181D27"/>
                </a:solidFill>
                <a:latin typeface="Courier New"/>
              </a:rPr>
              <a:t>gamma="scale"</a:t>
            </a:r>
            <a:r>
              <a:rPr sz="2000" b="0" i="0">
                <a:solidFill>
                  <a:srgbClr val="181D27"/>
                </a:solidFill>
                <a:latin typeface="Arial"/>
              </a:rPr>
              <a:t> даёт отправную точку</a:t>
            </a:r>
          </a:p>
        </p:txBody>
      </p:sp>
      <p:pic>
        <p:nvPicPr>
          <p:cNvPr id="5" name="Picture 4" descr="svm_ga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48256"/>
            <a:ext cx="10637215" cy="285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105543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направо влияние каждого объекта сжимается: при gamma = 0.1 граница почти прямая, при gamma = 100 обвивает отдельные точки. Тот же сюжет, что с глубиной дерева.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Сводка: что когда применять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33731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54741"/>
                <a:gridCol w="4091236"/>
                <a:gridCol w="4091236"/>
              </a:tblGrid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Метод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Сильная сторона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Когда не стоит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Линейные модели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Быстро, интерпретируемо, устойчиво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Зависимость существенно нелинейна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Решающее дерево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Наглядность, работа «из коробки»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Нужна точность — одиночное дерево слабо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Ближайшие соседи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Простота, произвольная форма границы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Много признаков или много данных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Наивный Байес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Мгновенный baseline для текстов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Признаки сильно зависимы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Опорные векторы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Мало объектов, много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Десятки тысяч объектов и больше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Границы решений на одних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decision_bound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859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633717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Одна и та же выборка, четыре метода. Прямая линейной модели не справляется, дерево строит ступеньки, метод соседей повторяет форму данных, ядро RBF даёт плавную границу.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 чего начинать на новой задаче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Порядок, который экономит время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Baseline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константа. Узнаём точку отсчёта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Логистическая регрессия или Ridge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 пайплайне. Быстро, интерпретируемо, часто достаточно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Градиентный бустинг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 настройками по умолчанию. Обычно сразу лучше всех — про него следующая лекция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Только после этого — подбор гиперпараметров, отбор признаков, ансамбли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Метод соседей и SVM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пробуют, когда объектов немного и хочется посмотреть на альтернативу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Ошибка новичка — начинать со сложного. Половина задач закрывается линейной моделью на хороших признаках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Все методы через один интерфейс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7703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sklearn.tree import DecisionTreeClassifier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sklearn.neighbors import KNeighborsClassifier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sklearn.naive_bayes import GaussianNB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sklearn.svm import SVC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models = {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"дерево":   DecisionTreeClassifier(max_depth=5, random_state=42),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"соседи":   KNeighborsClassifier(n_neighbors=15, weights="distance"),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"байес":    GaussianNB(),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"SVM":      SVC(C=1.0, kernel="rbf", probability=True),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}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for name, model in models.items():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pipe = Pipeline([("scale", StandardScaler()), ("model", model)])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scores = cross_val_score(pipe, X_train, y_train, cv=5, scoring="roc_auc")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print(f"{name:10} ROC-AUC = {scores.mean():.3f} ± {scores.std():.3f}")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26024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Дереву масштабирование не нужно, но и не вредит — поэтому один пайплайн годится для всех четырёх.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Дерево — последовательность вопросов; строится жадно по критерию информативности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Без ограничений дерево всегда переобучается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; глубина и размер листа — главные регуляторы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Деревьям не нужно масштабирование, они ловят нелинейности и взаимодействия сами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Одиночное дерево неустойчиво — и именно это делает его хорошим кирпичиком для ансамблей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Метод ближайших соседей не обучается, а запоминает; полностью зависит от масштаба и страдает от размерности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Наивный Байес и метод опорных векторов — полезные инструменты в своих нишах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5: рисуем границы решений, смотрим на переобучение своими глазами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Сдача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домашней работы 2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Лекция 6 — как из слабых деревьев собрать сильную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scikit-learn, разделы Decision Trees и Nearest Neighbors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Визуализация построения дерева — интерактивные демонстрации в сети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 проклятие размерности — глава в The Elements of Statistical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5. Деревья и непараметрические методы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
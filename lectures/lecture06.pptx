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gi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192024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2B5CE6"/>
                </a:solidFill>
                <a:latin typeface="Arial"/>
              </a:rPr>
              <a:t>Машинное обучение · Лекция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487168"/>
            <a:ext cx="9692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000" b="1" i="0">
                <a:solidFill>
                  <a:srgbClr val="181D27"/>
                </a:solidFill>
                <a:latin typeface="Arial"/>
              </a:rPr>
              <a:t>Ансамбли: почему бустинг всё ещё выигрывает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326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900" b="0" i="0">
                <a:solidFill>
                  <a:srgbClr val="6B7484"/>
                </a:solidFill>
                <a:latin typeface="Arial"/>
              </a:rPr>
              <a:t>Бэггинг, случайный лес, градиентный бустинг и его современные реализации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5257800"/>
            <a:ext cx="2011680" cy="19050"/>
          </a:xfrm>
          <a:prstGeom prst="rect">
            <a:avLst/>
          </a:prstGeom>
          <a:solidFill>
            <a:srgbClr val="DDE2E9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181D27"/>
                </a:solidFill>
                <a:latin typeface="Arial"/>
              </a:rPr>
              <a:t>Рустам Азимов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На табличных данных градиентный бустинг остаётся сильнейшим методом — несмотря на весь прогресс нейросетей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Это не устаревшая классика, а актуальный рабочий инструмент. Большинство промышленных моделей на табличных данных — это бустинг.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 / 59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Идея ансамбля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Одна модель ошибается. Но если моделей много и они ошибаются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по-разному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ошибки частично компенсируют друг друга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Ключевое условие — разнообразие: сто одинаковых моделей бесполезны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Два способа получить разнообразие и два семейства ансамблей: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1" i="0">
                <a:solidFill>
                  <a:srgbClr val="181D27"/>
                </a:solidFill>
                <a:latin typeface="Arial"/>
              </a:rPr>
              <a:t>Бэггинг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обучаем модели независимо на разных подвыборках, затем усредняем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1" i="0">
                <a:solidFill>
                  <a:srgbClr val="181D27"/>
                </a:solidFill>
                <a:latin typeface="Arial"/>
              </a:rPr>
              <a:t>Бустинг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обучаем последовательно, каждая следующая исправляет ошибки предыдущих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 / 59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Два способа собрать ансамбль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bagging_vs_boo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71989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93826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В бэггинге модели не знают друг о друге и обучаются одновременно. В бустинге каждая следующая обучается на том, что не смогли предыдущие — поэтому распараллелить построение нельзя.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 / 59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ensem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1397" y="566928"/>
            <a:ext cx="7948900" cy="56967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 / 59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Смещение и разброс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Теория, объясняющая, почему ансамбли работают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Разложение ошибки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Ожидаемая ошибка модели раскладывается на три части:</a:t>
            </a:r>
          </a:p>
        </p:txBody>
      </p:sp>
      <p:pic>
        <p:nvPicPr>
          <p:cNvPr id="5" name="Picture 4" descr="d897c015fbd12c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2098" y="2185416"/>
            <a:ext cx="5127498" cy="4732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951225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Смещение — систематическая ошибка из-за простоты модели. Разброс — нестабильность при смене обучающей выборки. Последнее слагаемое — неустранимый шум в данных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7 / 59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Смещение и разброс на мишенях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bias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2" y="1572768"/>
            <a:ext cx="9753370" cy="392074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694680"/>
            <a:ext cx="10637215" cy="8615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Каждая точка — модель, обученная на своей выборке. Смещение — насколько попадания сдвинуты от центра, разброс — насколько разлетелись друг от друга. Справа тот же компромисс кривыми.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8 / 59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Два разных недуга — два разных лекарства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Большой разброс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слишком гибкая, переобучается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Пример: глубокое дерево без ограничений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Лечение — усреднение независимых моделей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Это и есть бэггинг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Большое смещение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слишком проста, недообучается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Пример: пень — дерево глубины один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1" i="0">
                <a:solidFill>
                  <a:srgbClr val="181D27"/>
                </a:solidFill>
                <a:latin typeface="Arial"/>
              </a:rPr>
              <a:t>Лечение — последовательное уточнение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Это и есть бустинг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9 / 59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усреднение снижает разброс?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усреднить N независимых моделей с одинаковым разбросом, разброс среднего падает в N раз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практике модели не бывают полностью независимы, поэтому выигрыш меньше теоретического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Смещение при усреднении не меняется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вот почему в бэггинг берут заведомо переобученные деревья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У глубокого дерева смещение мало, а разброс огромен: как раз то, что усреднение чинит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10 / 59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Насколько именно падает разброс?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ошибки N моделей независимы и у каждой разброс σ², то у среднего:</a:t>
            </a:r>
          </a:p>
        </p:txBody>
      </p:sp>
      <p:pic>
        <p:nvPicPr>
          <p:cNvPr id="5" name="Picture 4" descr="f7ca6c2b93e14a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953" y="2185416"/>
            <a:ext cx="2875788" cy="101955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3497580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Но в реальности ошибки коррелируют с коэффициентом ρ, и тогда:</a:t>
            </a:r>
          </a:p>
        </p:txBody>
      </p:sp>
      <p:pic>
        <p:nvPicPr>
          <p:cNvPr id="7" name="Picture 6" descr="fe91142f06dd55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5360" y="3973068"/>
            <a:ext cx="3220974" cy="5394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805172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Второе слагаемое гасится числом моделей, первое — нет. Поэтому сто одинаковых деревьев не дают ничего: при ρ = 1 разброс остаётся равным σ². Вся борьба идёт за то, чтобы сделать модели как можно менее похожими.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11 / 59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даёт усреднение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averaging_var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3297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103677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Двадцать пять деревьев обучены на разных подвыборках одних и тех же данных. Каждое дёргается по-своему, но их среднее идёт точно по истинной зависимости: ошибка падает с 0.83 до 0.05. Смещение при этом не изменилось — усреднение лечит только разброс.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12 / 59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Усредняем 100 одинаковых деревьев, обученных на одних и тех же данных. Что получится?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Ошибка упадёт примерно в 10 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Ровно то же самое дерево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Ошибка вырастет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Модель станет устойчивее к выбросам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13 / 59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10058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Усредняем 100 одинаковых деревьев, обученных на одних и тех же данных. Что получится?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79806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Ошибка упадёт примерно в 10 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85292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29184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Ровно то же самое дерево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34670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36499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8561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Ошибка вырастет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279392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Модель станет устойчивее к выбросам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334256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901184"/>
            <a:ext cx="10637215" cy="135331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Ровно то же самое. Усреднение снижает разброс, только если модели ошибаются по-разному. Весь бэггинг построен на искусственном разнообразии: своя бутстрап-выборка каждому дереву и случайное подмножество признаков в каждом разбиении.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14 / 59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Откуда берётся разнообразие?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Без него ансамбль бесполезен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Разные подвыборки объектов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бутстрап в бэггинге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Разные подмножества признаков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max_features в случайном лесе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Разные алгоритмы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линейная модель плюс дерево плюс соседи в стекинге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Разные случайные зёрна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слабый источник, но тоже работает для неустойчивых моделей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Разные представления данных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на исходных признаках и на главных компонентах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Проверить разнообразие просто: посмотрите на корреляцию предсказаний. Если она 0.99 — усреднять нечего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15 / 59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Бэггинг и случайный лес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Бутстрап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Из выборки размера n берём n объектов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с возвращением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Некоторые объекты попадут несколько раз, некоторые не попадут вовсе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 среднем каждая подвыборка содержит около 63% уникальных объектов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Оставшиеся 37% называются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out-of-bag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на них можно оценивать качество бесплатно, без отдельной валидации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Каждая модель ансамбля обучается на своей бутстрап-выборке — отсюда и разнообразие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17 / 59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Бутстрап и out-of-bag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bootstr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310" y="1572768"/>
            <a:ext cx="7963074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Слева: четыре подвыборки из двадцати объектов. Цифра показывает, сколько раз объект вытянули, серые клетки — объекты, не попавшие в выборку вовсе. Справа: доля уникальных объектов быстро сходится к 1 − 1/e, то есть примерно к 63%.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18 / 59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агрегируют предсказания?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Регрессия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среднее предсказаний. Иногда медиана, если базовые модели неустойчивы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Классификация, жёсткое голосование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каждая модель голосует за класс, побеждает большинство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Классификация, мягкое голосование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усредняются вероятности. Обычно работает лучше: учитывается уверенность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Взвешенное голосование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сильным моделям больший вес. Веса подбираются на валидации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Всё это — один класс </a:t>
            </a:r>
            <a:r>
              <a:rPr sz="1800" b="1" i="0">
                <a:solidFill>
                  <a:srgbClr val="181D27"/>
                </a:solidFill>
                <a:latin typeface="Courier New"/>
              </a:rPr>
              <a:t>VotingClassifier</a:t>
            </a:r>
            <a:r>
              <a:rPr sz="1800" b="1" i="0">
                <a:solidFill>
                  <a:srgbClr val="181D27"/>
                </a:solidFill>
                <a:latin typeface="Arial"/>
              </a:rPr>
              <a:t>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параметр </a:t>
            </a:r>
            <a:r>
              <a:rPr sz="1800" b="0" i="0">
                <a:solidFill>
                  <a:srgbClr val="181D27"/>
                </a:solidFill>
                <a:latin typeface="Courier New"/>
              </a:rPr>
              <a:t>voting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переключает жёсткое и мягкое голосование, </a:t>
            </a:r>
            <a:r>
              <a:rPr sz="1800" b="0" i="0">
                <a:solidFill>
                  <a:srgbClr val="181D27"/>
                </a:solidFill>
                <a:latin typeface="Courier New"/>
              </a:rPr>
              <a:t>weights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задаёт веса моделей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19 / 59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работает бэггинг?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Бутстрап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N подвыборок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с возвращением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18886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661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Обучение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своя модель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на каждой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838236" y="2523744"/>
            <a:ext cx="164592" cy="155448"/>
          </a:xfrm>
          <a:prstGeom prst="rightArrow">
            <a:avLst>
              <a:gd name="adj1" fmla="val 42000"/>
              <a:gd name="adj2" fmla="val 52000"/>
            </a:avLst>
          </a:prstGeom>
          <a:solidFill>
            <a:srgbClr val="A8B0B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75980" y="1984248"/>
            <a:ext cx="3338474" cy="12344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146304" rIns="146304" tIns="100584" bIns="100584"/>
          <a:lstStyle/>
          <a:p>
            <a:pPr algn="ctr"/>
            <a:r>
              <a:rPr sz="1600" b="1" i="0">
                <a:solidFill>
                  <a:srgbClr val="181D27"/>
                </a:solidFill>
                <a:latin typeface="Arial"/>
              </a:rPr>
              <a:t>Агрегация</a:t>
            </a:r>
          </a:p>
          <a:p>
            <a:pPr algn="ctr">
              <a:lnSpc>
                <a:spcPct val="112000"/>
              </a:lnSpc>
              <a:spcAft>
                <a:spcPts val="300"/>
              </a:spcAft>
            </a:pPr>
            <a:r>
              <a:rPr sz="1400" b="0" i="0">
                <a:solidFill>
                  <a:srgbClr val="181D27"/>
                </a:solidFill>
                <a:latin typeface="Arial"/>
              </a:rPr>
              <a:t>среднее или</a:t>
            </a:r>
          </a:p>
          <a:p>
            <a:pPr algn="ctr">
              <a:lnSpc>
                <a:spcPct val="112000"/>
              </a:lnSpc>
            </a:pPr>
            <a:r>
              <a:rPr sz="1400" b="0" i="0">
                <a:solidFill>
                  <a:srgbClr val="181D27"/>
                </a:solidFill>
                <a:latin typeface="Arial"/>
              </a:rPr>
              <a:t>голосование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630168"/>
            <a:ext cx="106372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181D27"/>
                </a:solidFill>
                <a:latin typeface="Arial"/>
              </a:rPr>
              <a:t>Модели обучаются независимо друг от друга, поэтому процесс легко распараллеливается. Для регрессии предсказания усредняются, для классификации проводится голосование или усредняются вероятности.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20 / 59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Случайный лес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Бэггинг над деревьями плюс ещё один источник случайности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 бутстрапу добавляется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случайный отбор признаков в каждом узле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Без этого все деревья находили бы один и тот же сильнейший признак и получались похожими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Рекомендуемое число признаков: корень из общего числа для классификации, треть для регрессии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Деревья растят глубокими: их разброс лечится усреднением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Практически не переобучается с ростом числа деревьев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их можно брать много, ограничение только по времени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21 / 59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Одно дерево против леса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forest_vs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538" y="1572768"/>
            <a:ext cx="8872619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Одно дерево режет плоскость крупными прямоугольниками и ошибается на 14% тестовых объектов, лес из двухсот деревьев — на 8%. Справа: основной прирост даёт первый десяток деревьев, дальше кривая выходит на полку. Лишние деревья лесу не вредят, они только занимают время.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22 / 59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Главные параметры случайного леса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4" cy="300244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39204"/>
                <a:gridCol w="3799005"/>
                <a:gridCol w="3799005"/>
              </a:tblGrid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Параметр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Смысл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Как настраивать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n_estimators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Число деревьев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Больше — лучше, пока не упрётесь во время. От 300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max_features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Признаков на разбиение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Главный регулятор разнообразия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max_depth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Глубина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Обычно без ограничения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min_samples_leaf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Минимум в листе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Увеличить при шумных данных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00407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oob_score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Оценка на неиспользованных объектах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Включить — бесплатная валидация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23 / 59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 случайном лесу увеличили число деревьев со 100 до 1000. Модель переобучится?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Да, обязательно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Нет, качество просто выйдет на плато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Да, если деревья глубокие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Зависит от скорости обучения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24 / 59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 случайном лесу увеличили число деревьев со 100 до 1000. Модель переобучится?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Да, обязательно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Нет, качество просто выйдет на плато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054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Да, если деревья глубокие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Зависит от скорости обучения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Нет: деревья в бэггинге обучаются независимо, и усреднение большего числа независимых оценок разброс не увеличивает — качество перестанет расти, а время обучения вырастет. У бустинга всё наоборот: там каждое дерево исправляет ошибки предыдущих, лишние итерации переобучают, и нужна ранняя остановка.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25 / 59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Бустинг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Последовательное исправление ошибок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Принципиальное отличие от бэггинга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Модели обучаются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не независимо, а по очереди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Каждая следующая модель работает с тем, что не смогли предыдущие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Ансамбль строится как сумма моделей, а не как их среднее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Базовые модели намеренно слабые — неглубокие деревья на 3–6 уровней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Распараллелить построение нельзя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следующая модель зависит от предыдущей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27 / 59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AdaBoost — исторически первый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Каждому объекту приписан вес, изначально одинаковый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Обучили слабую модель, посмотрели, где она ошиблась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Ошибочным объектам вес увеличили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верным уменьшили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Следующая модель вынуждена сосредоточиться на трудных случаях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Итоговое предсказание — взвешенное голосование, где вес модели зависит от её точности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28 / 59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AdaBoost: веса объектов по шагам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adaboost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0872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4861184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Размер точки — её вес в обучении. Обведённые объекты модель на этом шаге не угадала, и к следующему шагу они заметно раздуваются. Так каждая новая модель занимается в первую очередь тем, что не далось предыдущим.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29 / 59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Градиентный бустинг: основная идея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09928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Ансамбль строится пошагово, каждая модель добавляется к текущему предсказанию:</a:t>
            </a:r>
          </a:p>
        </p:txBody>
      </p:sp>
      <p:pic>
        <p:nvPicPr>
          <p:cNvPr id="5" name="Picture 4" descr="237aa2c23bc227a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982" y="2185416"/>
            <a:ext cx="4697730" cy="411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889504"/>
            <a:ext cx="1063721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Новая модель обучается предсказывать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антиградиент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функции потерь:</a:t>
            </a:r>
          </a:p>
        </p:txBody>
      </p:sp>
      <p:pic>
        <p:nvPicPr>
          <p:cNvPr id="7" name="Picture 6" descr="75386c996fb1a7f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9363" y="3364992"/>
            <a:ext cx="3172968" cy="5897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7240" y="4247388"/>
            <a:ext cx="106372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Для квадратичной ошибки антиградиент — это просто остатки, разница между истиной и текущим предсказанием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30 / 59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это называется градиентным?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Обычный градиентный спуск шагает в пространстве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параметров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Градиентный бустинг шагает в пространстве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функций</a:t>
            </a:r>
            <a:r>
              <a:rPr sz="1800" b="0" i="0">
                <a:solidFill>
                  <a:srgbClr val="181D27"/>
                </a:solidFill>
                <a:latin typeface="Arial"/>
              </a:rPr>
              <a:t>: каждый шаг — добавление новой модели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Направление шага то же самое — против градиента функции потерь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Следствие: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подставив другую функцию потерь, получаем метод для другой задачи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Квадратичная — регрессия, логистическая — классификация, квантильная — предсказание квантилей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31 / 59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Бустинг по шагам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Сверху предсказание модели, снизу остатки, которые пойдут следующему дереву</a:t>
            </a:r>
          </a:p>
        </p:txBody>
      </p:sp>
      <p:pic>
        <p:nvPicPr>
          <p:cNvPr id="5" name="Picture 4" descr="boosting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679" y="2048256"/>
            <a:ext cx="7050337" cy="3151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Первое дерево ловит только грубую форму, и остатки почти повторяют исходные данные. С каждым шагом предсказание уточняется, а остатки сжимаются к нулю — новым деревьям остаётся всё меньше работы.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32 / 59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В бустинге уменьшили скорость обучения в десять раз. Что сделать с числом деревьев?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Уменьшить в десять 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Оставить прежним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Увеличить примерно во столько же раз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Число деревьев здесь ни при чём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33 / 59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В бустинге уменьшили скорость обучения в десять раз. Что сделать с числом деревьев?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Уменьшить в десять раз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Оставить прежним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Увеличить примерно во столько же раз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17175" y="354787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Число деревьев здесь ни при чём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Увеличить: скорость обучения и число деревьев связаны обратно — каждое дерево вносит меньший вклад, значит шагов нужно больше. Маленький шаг с большим числом деревьев обычно даёт качество получше ценой времени. Рабочий приём: зафиксировать небольшой шаг и подобрать число деревьев ранней остановкой.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34 / 59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Регуляризация бустинга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Бустинг переобучается легко — эти механизмы это сдерживают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048256"/>
          <a:ext cx="10637214" cy="27318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45738"/>
                <a:gridCol w="7091476"/>
              </a:tblGrid>
              <a:tr h="3902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Механизм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Как работает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902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Скорость обучения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Вклад каждой модели умножается на ν &lt; 1. Меньше ν — нужно больше деревьев, но качество выше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902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Число деревьев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Главный параметр. Подбирается ранней остановкой по валидации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902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Глубина деревьев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Обычно от 3 до 8. Глубже — сильнее переобучение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902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Подвыборка объектов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Каждое дерево строится на случайной части данных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902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Подвыборка признаков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Как в случайном лесе, вносит разнообразие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390260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L1 и L2 на веса листьев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Прямой штраф за величину предсказаний в листьях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35 / 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Скорость обучения и момент остановки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boosting_l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5652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339179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Слева: при ν = 0.5 ошибка на отложенной выборке начинает расти уже после шестого дерева, при ν = 0.03 — только после трёхсотого. Справа: кривая обучения уходит в ноль, а валидационная разворачивается — число деревьев подбирают именно по ней.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36 / 59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Гистограммный подход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Почему современный бустинг быстрый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Наивный перебор порогов: для каждого признака отсортировать значения и проверить каждое. Дорого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Идея: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разложить значения признака по 255 корзинам один раз в начале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Дальше перебираются не все значения, а только границы корзин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Скорость растёт на порядок, качество почти не страдает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Так устроены LightGBM, XGBoost с </a:t>
            </a:r>
            <a:r>
              <a:rPr sz="1800" b="0" i="0">
                <a:solidFill>
                  <a:srgbClr val="181D27"/>
                </a:solidFill>
                <a:latin typeface="Courier New"/>
              </a:rPr>
              <a:t>tree_method="hist"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 </a:t>
            </a:r>
            <a:r>
              <a:rPr sz="1800" b="0" i="0">
                <a:solidFill>
                  <a:srgbClr val="181D27"/>
                </a:solidFill>
                <a:latin typeface="Courier New"/>
              </a:rPr>
              <a:t>HistGradientBoosting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из scikit-learn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Побочный эффект: очень близкие значения признака попадают в одну корзину и становятся неразличимы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37 / 59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Пороги или границы корзин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histogram_bi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34189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192891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Слева перебираются пороги между всеми соседними значениями признака, справа значения разложены по корзинам, и проверяются только их границы. Работы на порядок меньше, а разбиения получаются почти те же.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38 / 59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2103120"/>
            <a:ext cx="10637215" cy="2103120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502920" rIns="502920" tIns="100584" bIns="100584"/>
          <a:lstStyle/>
          <a:p>
            <a:pPr algn="ctr">
              <a:lnSpc>
                <a:spcPct val="125000"/>
              </a:lnSpc>
              <a:spcAft>
                <a:spcPts val="1400"/>
              </a:spcAft>
            </a:pPr>
            <a:r>
              <a:rPr sz="2300" b="1" i="0">
                <a:solidFill>
                  <a:srgbClr val="181D27"/>
                </a:solidFill>
                <a:latin typeface="Arial"/>
              </a:rPr>
              <a:t>Скорость обучения и число деревьев подбираются только вместе</a:t>
            </a:r>
          </a:p>
          <a:p>
            <a:pPr algn="ctr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Уменьшили скорость вдвое — увеличивайте число деревьев примерно вдвое. Настраивать их по отдельности бессмысленно.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39 / 59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Современные реализации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14600" y="3566160"/>
            <a:ext cx="84124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XGBoost, LightGBM, CatBoost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Чем они отличаются?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572768"/>
          <a:ext cx="10637212" cy="337311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XGBoost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LightGBM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1" i="0">
                          <a:solidFill>
                            <a:srgbClr val="181D27"/>
                          </a:solidFill>
                          <a:latin typeface="Arial"/>
                        </a:rPr>
                        <a:t>CatBoost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Рост дерева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 уровням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По листьям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Симметрично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Скорость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Средняя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Самая высокая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Средняя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Категории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Нужно кодировать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Встроенная поддержка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Лучшая в классе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Переобучение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Требует настройки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Легко переобучается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Устойчив из коробки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  <a:tr h="56218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Настройки по умолчанию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Средние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Требуют внимания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500" b="0" i="0">
                          <a:solidFill>
                            <a:srgbClr val="181D27"/>
                          </a:solidFill>
                          <a:latin typeface="Arial"/>
                        </a:rPr>
                        <a:t>Обычно хороши сразу</a:t>
                      </a:r>
                    </a:p>
                  </a:txBody>
                  <a:tcPr marL="109728" marR="109728" marT="64008" marB="64008" anchor="ctr">
                    <a:lnL>
                      <a:noFill/>
                    </a:lnL>
                    <a:lnR>
                      <a:noFill/>
                    </a:lnR>
                    <a:lnB w="6350" cap="flat" cmpd="sng" algn="ctr">
                      <a:solidFill>
                        <a:srgbClr val="DDE2E9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41 / 59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Три стратегии роста дерева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tree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572768"/>
            <a:ext cx="10637215" cy="21094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3883343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XGBoost достраивает уровень целиком, LightGBM делит тот лист, который даёт наибольший выигрыш, отсюда скорость и склонность к переобучению. CatBoost строит симметричные деревья: на каждом уровне одно и то же условие для всех узлов — это быстро считается на предсказании.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42 / 59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выбрать на практике?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CatBoost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если много категориальных признаков или нужен хороший результат без долгой настройки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LightGBM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если данных много и важна скорость. Но следите за переобучением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XGBoost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проверенный временем вариант, огромное сообщество и документация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Разница в качестве между ними обычно в пределах процента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Гораздо важнее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качество признаков и корректная валидация, чем выбор конкретной библиотеки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43 / 59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CatBoost работает с категориями?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Главное отличие библиотеки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Обычный target encoding течёт: в среднее по категории входит собственный ответ объекта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Решение CatBoost: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упорядочить объекты случайной перестановкой и считать статистику только по предыдущим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Каждый объект видит среднее, посчитанное без него самого — утечки нет по построению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Перестановок делается несколько, результаты усредняются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Практический вывод: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если в данных много категорий с большим числом значений, начинайте с CatBoost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44 / 59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Типичный запуск с ранней остановкой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37363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74320" rIns="146304" tIns="182880" bIns="100584"/>
          <a:lstStyle/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from lightgbm import LGBMClassifier, early_stopping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model = LGBMClassifier(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n_estimators=2000,       # берём с запасом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learning_rate=0.05,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num_leaves=31,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subsample=0.8,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colsample_bytree=0.8,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random_state=42,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model.fit(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X_train, y_train,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eval_set=[(X_valid, y_valid)],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eval_metric="auc",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6B7484"/>
                </a:solidFill>
                <a:latin typeface="Courier New"/>
              </a:rPr>
              <a:t>    # 100 — терпение: столько деревьев подряд разрешаем не улучшать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6B7484"/>
                </a:solidFill>
                <a:latin typeface="Courier New"/>
              </a:rPr>
              <a:t>    # метрику на валидации, после чего останавливаемся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    callbacks=[early_stopping(100, verbose=False)],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)</a:t>
            </a:r>
          </a:p>
          <a:p>
            <a:pPr algn="l">
              <a:lnSpc>
                <a:spcPct val="116000"/>
              </a:lnSpc>
            </a:pPr>
            <a:r>
              <a:rPr sz="950" b="0" i="0">
                <a:solidFill>
                  <a:srgbClr val="181D27"/>
                </a:solidFill>
                <a:latin typeface="Courier New"/>
              </a:rPr>
              <a:t>print("деревьев обучено:", model.best_iteration_)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91988"/>
            <a:ext cx="106372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Ставим заведомо большой предел и берём то число деревьев, на котором валидация перестала расти. </a:t>
            </a:r>
            <a:r>
              <a:rPr sz="1700" b="0" i="0">
                <a:solidFill>
                  <a:srgbClr val="181D27"/>
                </a:solidFill>
                <a:latin typeface="Courier New"/>
              </a:rPr>
              <a:t>best_iteration_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вернёт номер лучшего дерева, а не последнего.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45 / 59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Порядок настройки бустинга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Чтобы не перебирать всё подряд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Зафиксировать небольшую скорость обучения, около 0.05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Подобрать число деревьев ранней остановкой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Настроить сложность дерева: глубину или число листьев, минимум объектов в листе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Добавить подвыборки объектов и признаков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В конце — регуляризацию на веса листьев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Если есть время, уменьшить скорость обучения и повторить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46 / 59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с чего начать на новой табличной задаче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Порядок, который экономит дни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Baseline.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Константа, потом логистическая регрессия в пайплайне — и есть точка отсчёта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Бустинг с настройками по умолчанию.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Обычно сразу лучше всего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Признаки.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Вот сюда стоит вложить основное время: агрегаты, отношения, даты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Ранняя остановка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и подбор скорости обучения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Тонкая настройка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глубины, подвыборок, регуляризации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Ансамблирование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нескольких моделей — если действительно нужен последний процент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Типичная ошибка — начать с пятого пункта. Настройка слабой модели на плохих признаках не спасёт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47 / 59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me_third_digit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821" y="566928"/>
            <a:ext cx="6692053" cy="46329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Настройка бустинга затягивает. Но помните: разница между библиотеками и тонкими настройками обычно меньше, чем разброс между фолдами кросс-валидации. Тот же час, вложенный в признаки, чаще даёт больше.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48 / 59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Что дальше за ансамблями?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Стекинг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Обучаем несколько разнородных моделей: линейную, лес, бустинг, соседей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Их предсказания становятся признаками для </a:t>
            </a:r>
            <a:r>
              <a:rPr sz="1800" b="1" i="0">
                <a:solidFill>
                  <a:srgbClr val="181D27"/>
                </a:solidFill>
                <a:latin typeface="Arial"/>
              </a:rPr>
              <a:t>мета-модели</a:t>
            </a:r>
            <a:r>
              <a:rPr sz="1800" b="0" i="0">
                <a:solidFill>
                  <a:srgbClr val="181D27"/>
                </a:solidFill>
                <a:latin typeface="Arial"/>
              </a:rPr>
              <a:t>, обычно простой линейной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Мета-модель учится, кому доверять в какой ситуации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Важно: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предсказания для обучения мета-модели берутся out-of-fold, иначе утечка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Даёт небольшой, но стабильный прирост. На соревнованиях используется почти всегда, в проде — реже из-за сложности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50 / 59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Как устроен стекинг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pic>
        <p:nvPicPr>
          <p:cNvPr id="4" name="Picture 3" descr="stac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483" y="1572768"/>
            <a:ext cx="8842728" cy="3627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5401056"/>
            <a:ext cx="10637215" cy="1155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Базовые модели дают предсказания, которые становятся признаками для мета-модели. Предсказания обязательно берутся out-of-fold: если обучить базовую модель и спросить её про те же объекты, мета-модель увидит подсмотренные ответы и научится им доверять.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51 / 59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Разбор: типичная итерация работы над табличной задачей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Как выглядит неделя работы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День 1.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Разведочный анализ, baseline, бустинг из коробки. ROC-AUC 0.81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День 2.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Feature engineering: агрегаты по клиенту, отношения, даты. 0.85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День 3.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Разбор ошибок: на каких объектах модель промахивается, что у них общего. Нашли, что плохо работает на новых клиентах — добавили признак «дней с регистрации». 0.86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День 4.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Ранняя остановка, подбор скорости обучения, Optuna. 0.868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День 5.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Стекинг трёх моделей. 0.871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Итог: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признаки и анализ ошибок дали +0.05, вся настройка — +0.011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Соотношение примерно такое в каждом проекте. Планируйте время соответственно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52 / 59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Когда ансамбль не нужен?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372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 i="0">
                <a:solidFill>
                  <a:srgbClr val="181D27"/>
                </a:solidFill>
                <a:latin typeface="Arial"/>
              </a:rPr>
              <a:t>Не всякую задачу надо решать бустингом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48256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Данных очень мало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сотни объектов. Ансамбль переобучится, линейная модель надёжнее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Нужна интерпретируемость по регламенту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объяснить лес сложнее, чем логистическую регрессию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Жёсткие требования к скорости ответа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сотни деревьев считаются дольше одной формулы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Зависимость действительно линейна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ансамбль ничего не добавит, только усложнит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Baseline уже достаточен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для задачи — дальше улучшать незачем</a:t>
            </a:r>
          </a:p>
          <a:p>
            <a:pPr algn="l" marL="660400" indent="-203200">
              <a:lnSpc>
                <a:spcPct val="122000"/>
              </a:lnSpc>
              <a:spcAft>
                <a:spcPts val="700"/>
              </a:spcAft>
              <a:buClr>
                <a:srgbClr val="A8B0BC"/>
              </a:buClr>
              <a:buFont typeface="Arial"/>
              <a:buChar char="·"/>
            </a:pPr>
            <a:r>
              <a:rPr sz="1700" b="0" i="0">
                <a:solidFill>
                  <a:srgbClr val="181D27"/>
                </a:solidFill>
                <a:latin typeface="Arial"/>
              </a:rPr>
              <a:t>Хорошее инженерное решение — не самое точное, а с лучшим отношением пользы к стоимости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53 / 59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682496"/>
            <a:ext cx="10637215" cy="1297432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84048" rIns="384048" tIns="100584" bIns="100584"/>
          <a:lstStyle/>
          <a:p>
            <a:pPr algn="l">
              <a:lnSpc>
                <a:spcPct val="122000"/>
              </a:lnSpc>
            </a:pPr>
            <a:r>
              <a:rPr sz="2300" b="1" i="0">
                <a:solidFill>
                  <a:srgbClr val="181D27"/>
                </a:solidFill>
                <a:latin typeface="Arial"/>
              </a:rPr>
              <a:t>Табличная задача: 50 тысяч строк, 30 признаков, срок — завтра. С чего начать?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272536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Собрать нейросеть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391535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912870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Логистическая регрессия, затем градиентный бустинг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31869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553204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Сразу стекинг из пяти моделей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672203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5193538"/>
            <a:ext cx="10637215" cy="512318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700" b="0" i="0">
                <a:solidFill>
                  <a:srgbClr val="181D27"/>
                </a:solidFill>
                <a:latin typeface="Arial"/>
              </a:rPr>
              <a:t>Сутки перебирать параметры случайного леса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312537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2B5CE6"/>
                </a:solidFill>
                <a:latin typeface="Arial"/>
              </a:rPr>
              <a:t>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88736"/>
            <a:ext cx="1063721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181D27"/>
                </a:solidFill>
                <a:latin typeface="Arial"/>
              </a:rPr>
              <a:t>Ответьте про себя, прежде чем перевернуть слайд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54 / 59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Проверим интуицию — разбор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10637215" cy="694944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ctr" wrap="square" lIns="347472" rIns="347472" tIns="100584" bIns="100584"/>
          <a:lstStyle/>
          <a:p>
            <a:pPr algn="l">
              <a:lnSpc>
                <a:spcPct val="120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Табличная задача: 50 тысяч строк, 30 признаков, срок — завтра. С чего начать?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87168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Собрать нейросеть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542032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80944"/>
            <a:ext cx="10637215" cy="384048"/>
          </a:xfrm>
          <a:prstGeom prst="roundRect">
            <a:avLst>
              <a:gd name="adj" fmla="val 6000"/>
            </a:avLst>
          </a:prstGeom>
          <a:solidFill>
            <a:srgbClr val="ECF7F1"/>
          </a:solidFill>
          <a:ln w="12700">
            <a:solidFill>
              <a:srgbClr val="1B8A5A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1" i="0">
                <a:solidFill>
                  <a:srgbClr val="181D27"/>
                </a:solidFill>
                <a:latin typeface="Arial"/>
              </a:rPr>
              <a:t>Логистическая регрессия, затем градиентный бустинг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35808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8A5A"/>
                </a:solidFill>
                <a:latin typeface="Arial"/>
              </a:rPr>
              <a:t>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305409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400" b="1" i="0">
                <a:solidFill>
                  <a:srgbClr val="1B8A5A"/>
                </a:solidFill>
                <a:latin typeface="Arial"/>
              </a:rPr>
              <a:t>верно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74720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Сразу стекинг из пяти моделей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529584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968496"/>
            <a:ext cx="10637215" cy="384048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DDE2E9"/>
            </a:solidFill>
          </a:ln>
          <a:effectLst/>
        </p:spPr>
        <p:txBody>
          <a:bodyPr rtlCol="0" anchor="ctr" wrap="square" lIns="749808" rIns="1188720" tIns="100584" bIns="100584"/>
          <a:lstStyle/>
          <a:p>
            <a:pPr algn="l">
              <a:lnSpc>
                <a:spcPct val="116000"/>
              </a:lnSpc>
            </a:pPr>
            <a:r>
              <a:rPr sz="1600" b="0" i="0">
                <a:solidFill>
                  <a:srgbClr val="6B7484"/>
                </a:solidFill>
                <a:latin typeface="Arial"/>
              </a:rPr>
              <a:t>Сутки перебирать параметры случайного леса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023360"/>
            <a:ext cx="457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A8B0BC"/>
                </a:solidFill>
                <a:latin typeface="Arial"/>
              </a:rPr>
              <a:t>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590288"/>
            <a:ext cx="10637215" cy="1664208"/>
          </a:xfrm>
          <a:prstGeom prst="roundRect">
            <a:avLst>
              <a:gd name="adj" fmla="val 6000"/>
            </a:avLst>
          </a:prstGeom>
          <a:solidFill>
            <a:srgbClr val="E8EEFD"/>
          </a:solidFill>
          <a:ln>
            <a:noFill/>
          </a:ln>
          <a:effectLst/>
        </p:spPr>
        <p:txBody>
          <a:bodyPr rtlCol="0" anchor="ctr" wrap="square" lIns="365760" rIns="365760" tIns="237744" bIns="237744"/>
          <a:lstStyle/>
          <a:p>
            <a:pPr algn="l">
              <a:lnSpc>
                <a:spcPct val="124000"/>
              </a:lnSpc>
            </a:pPr>
            <a:r>
              <a:rPr sz="1800" b="0" i="0">
                <a:solidFill>
                  <a:srgbClr val="181D27"/>
                </a:solidFill>
                <a:latin typeface="Arial"/>
              </a:rPr>
              <a:t>С простого честного baseline, а потом бустинг с параметрами по умолчанию. На табличных данных такого размера бустинг почти всегда обходит нейросеть, а стекинг добавляет доли процента ценой сложности. Baseline нужен, чтобы вообще понимать, что означает прирост.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55 / 59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Почему бустинг всё ещё бьёт нейросети на таблицах?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Свойства табличных данных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Признаки разнородны и не связаны геометрически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Нет структуры, которую могли бы использовать свёртки или внимание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Много категорий и пропусков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Выборки часто небольшие — тысячи, а не миллионы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1587" y="1572768"/>
            <a:ext cx="5112867" cy="365760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txBody>
          <a:bodyPr rtlCol="0" anchor="t" wrap="square" lIns="256032" rIns="256032" tIns="219456" bIns="100584"/>
          <a:lstStyle/>
          <a:p>
            <a:pPr algn="l">
              <a:spcAft>
                <a:spcPts val="1200"/>
              </a:spcAft>
            </a:pPr>
            <a:r>
              <a:rPr sz="1800" b="1" i="0">
                <a:solidFill>
                  <a:srgbClr val="181D27"/>
                </a:solidFill>
                <a:latin typeface="Arial"/>
              </a:rPr>
              <a:t>Что даёт бустинг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Деревья устойчивы к разному масштабу и монотонным преобразованиям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Естественно работают с категориями и пропусками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Хорошо ведут себя при малых объёмах данных</a:t>
            </a:r>
          </a:p>
          <a:p>
            <a:pPr algn="l" marL="279400" indent="-279400">
              <a:lnSpc>
                <a:spcPct val="120000"/>
              </a:lnSpc>
              <a:spcAft>
                <a:spcPts val="8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Быстро обучаются и требуют меньше настройки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56 / 59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286000"/>
            <a:ext cx="21945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0" b="1" i="0">
                <a:solidFill>
                  <a:srgbClr val="E8EEFD"/>
                </a:solidFill>
                <a:latin typeface="Arial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2487168"/>
            <a:ext cx="868680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400" b="1" i="0">
                <a:solidFill>
                  <a:srgbClr val="181D27"/>
                </a:solidFill>
                <a:latin typeface="Arial"/>
              </a:rPr>
              <a:t>Итоги</a:t>
            </a:r>
          </a:p>
        </p:txBody>
      </p:sp>
      <p:sp>
        <p:nvSpPr>
          <p:cNvPr id="4" name="Rectangle 3"/>
          <p:cNvSpPr/>
          <p:nvPr/>
        </p:nvSpPr>
        <p:spPr>
          <a:xfrm>
            <a:off x="2514600" y="3401568"/>
            <a:ext cx="146304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нужно унести с лекции?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10637215" cy="4599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Ансамбль работает, только если модели ошибаются по-разному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Бэггинг лечит разброс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усредняет независимые переобученные модели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1" i="0">
                <a:solidFill>
                  <a:srgbClr val="181D27"/>
                </a:solidFill>
                <a:latin typeface="Arial"/>
              </a:rPr>
              <a:t>Бустинг лечит смещение</a:t>
            </a:r>
            <a:r>
              <a:rPr sz="1800" b="0" i="0">
                <a:solidFill>
                  <a:srgbClr val="181D27"/>
                </a:solidFill>
                <a:latin typeface="Arial"/>
              </a:rPr>
              <a:t> — последовательно уточняет предсказание слабых моделей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Случайный лес почти не требует настройки и не переобучается от числа деревьев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Градиентный бустинг мощнее, но требует аккуратной настройки и ранней остановки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Скорость обучения и число деревьев настраиваются только в паре</a:t>
            </a:r>
          </a:p>
          <a:p>
            <a:pPr algn="l" marL="330200" indent="-330200">
              <a:lnSpc>
                <a:spcPct val="122000"/>
              </a:lnSpc>
              <a:spcAft>
                <a:spcPts val="1100"/>
              </a:spcAft>
              <a:buClr>
                <a:srgbClr val="2B5CE6"/>
              </a:buClr>
              <a:buFont typeface="Arial"/>
              <a:buChar char="—"/>
            </a:pPr>
            <a:r>
              <a:rPr sz="1800" b="0" i="0">
                <a:solidFill>
                  <a:srgbClr val="181D27"/>
                </a:solidFill>
                <a:latin typeface="Arial"/>
              </a:rPr>
              <a:t>На табличных данных бустинг остаётся сильнейшим выбором по умолчанию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58 / 59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56692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700" b="1" i="0">
                <a:solidFill>
                  <a:srgbClr val="181D27"/>
                </a:solidFill>
                <a:latin typeface="Arial"/>
              </a:rPr>
              <a:t>Что дальше?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31750"/>
          </a:xfrm>
          <a:prstGeom prst="rect">
            <a:avLst/>
          </a:prstGeom>
          <a:solidFill>
            <a:srgbClr val="2B5CE6"/>
          </a:solidFill>
          <a:ln>
            <a:noFill/>
          </a:ln>
          <a:effectLst/>
        </p:spPr>
        <p:txBody>
          <a:bodyPr rtlCol="0" anchor="ctr" wrap="non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К следующему занятию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Практика 6: сравниваем лес и три библиотеки бустинга на одних данных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После практики выдаётся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домашняя работа 3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— соревнование на Kaggle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Вместе с ней выдаётся </a:t>
            </a:r>
            <a:r>
              <a:rPr sz="1700" b="1" i="0">
                <a:solidFill>
                  <a:srgbClr val="181D27"/>
                </a:solidFill>
                <a:latin typeface="Arial"/>
              </a:rPr>
              <a:t>домашняя работа 4</a:t>
            </a:r>
            <a:r>
              <a:rPr sz="1700" b="0" i="0">
                <a:solidFill>
                  <a:srgbClr val="181D27"/>
                </a:solidFill>
                <a:latin typeface="Arial"/>
              </a:rPr>
              <a:t> с дедлайном в сессию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24447" y="1572768"/>
            <a:ext cx="5090007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81D27"/>
                </a:solidFill>
                <a:latin typeface="Arial"/>
              </a:rPr>
              <a:t>Что почитать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24447" y="2075688"/>
            <a:ext cx="5090007" cy="4096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Документация LightGBM и CatBoost, разделы про параметры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Grinsztajn et al., «Why do tree-based models still outperform deep learning on tabular data?»</a:t>
            </a:r>
          </a:p>
          <a:p>
            <a:pPr algn="l" marL="279400" indent="-279400">
              <a:lnSpc>
                <a:spcPct val="122000"/>
              </a:lnSpc>
              <a:spcAft>
                <a:spcPts val="900"/>
              </a:spcAft>
              <a:buClr>
                <a:srgbClr val="2B5CE6"/>
              </a:buClr>
              <a:buFont typeface="Arial"/>
              <a:buChar char="—"/>
            </a:pPr>
            <a:r>
              <a:rPr sz="1700" b="0" i="0">
                <a:solidFill>
                  <a:srgbClr val="181D27"/>
                </a:solidFill>
                <a:latin typeface="Arial"/>
              </a:rPr>
              <a:t>Разбор градиентного бустинга «с нуля» — множество наглядных статей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82512"/>
            <a:ext cx="638232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A8B0BC"/>
                </a:solidFill>
                <a:latin typeface="Arial"/>
              </a:rPr>
              <a:t>Машинное обучение · Лекция 6. Ансамбли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17175" y="63825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0">
                <a:solidFill>
                  <a:srgbClr val="A8B0BC"/>
                </a:solidFill>
                <a:latin typeface="Arial"/>
              </a:rPr>
              <a:t>59 / 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
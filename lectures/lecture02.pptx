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B5CE6"/>
                </a:solidFill>
                <a:latin typeface="Arial"/>
              </a:rPr>
              <a:t>Машинное обучение · Лекция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87168"/>
            <a:ext cx="9692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181D27"/>
                </a:solidFill>
                <a:latin typeface="Arial"/>
              </a:rPr>
              <a:t>Данные: EDA, чистка и признаки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6B7484"/>
                </a:solidFill>
                <a:latin typeface="Arial"/>
              </a:rPr>
              <a:t>Работа, на которую уходит большая часть времени в любом ML-проекте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257800"/>
            <a:ext cx="2011680" cy="19050"/>
          </a:xfrm>
          <a:prstGeom prst="rect">
            <a:avLst/>
          </a:prstGeom>
          <a:solidFill>
            <a:srgbClr val="DDE2E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81D27"/>
                </a:solidFill>
                <a:latin typeface="Arial"/>
              </a:rPr>
              <a:t>Рустам Азимов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С чего начнём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847088"/>
            <a:ext cx="10637215" cy="210312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502920" rIns="502920" tIns="100584" bIns="100584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300" b="1" i="0">
                <a:solidFill>
                  <a:srgbClr val="181D27"/>
                </a:solidFill>
                <a:latin typeface="Arial"/>
              </a:rPr>
              <a:t>Модель не может узнать из данных то, чего в них нет</a:t>
            </a:r>
          </a:p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Выбор алгоритма влияет на качество куда меньше, чем качество признаков. Именно поэтому этой теме отведена целая пара, а не полчаса.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 / 59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было на прошлой лекции?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Машинное обучение выводит правила из данных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Обучение — минимизация функции потерь по параметрам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Качество измеряется только на данных, которых модель не видела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Утечка данных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информация из будущего или из теста, попавшая в признаки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Начинаем всегда с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 / 59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EDA — разведочный анализ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Смотрим на данные до того, как что-то с ними делать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Зачем смотреть на данные глазами?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Соблазн сразу запустить обучение велик, но он дорого обходится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Понять, что вообще лежит в таблице: объекты, признаки, единицы измерения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Найти явный брак: отрицательный возраст, даты из будущего, дубликаты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Увидеть, какие признаки связаны с целевой переменной, а какие бесполезны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Заметить утечку до того, как она даст обманчиво прекрасный результат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Понять, какие преобразования понадобятся: масштабирование, кодирование, логарифм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Сформулировать гипотезы</a:t>
            </a:r>
            <a:r>
              <a:rPr sz="1800" b="0" i="0">
                <a:solidFill>
                  <a:srgbClr val="181D27"/>
                </a:solidFill>
                <a:latin typeface="Arial"/>
              </a:rPr>
              <a:t>, которые проверит модель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 / 59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me_data_clea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313" y="566928"/>
            <a:ext cx="8545068" cy="56967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6 / 59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Порядок разведочного анализа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84248"/>
            <a:ext cx="2426131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Обзор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181D27"/>
                </a:solidFill>
                <a:latin typeface="Arial"/>
              </a:rPr>
              <a:t>размер, типы,</a:t>
            </a:r>
          </a:p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181D27"/>
                </a:solidFill>
                <a:latin typeface="Arial"/>
              </a:rPr>
              <a:t>пропуски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76523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14267" y="1984248"/>
            <a:ext cx="2426131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Одномерный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181D27"/>
                </a:solidFill>
                <a:latin typeface="Arial"/>
              </a:rPr>
              <a:t>каждый признак</a:t>
            </a:r>
          </a:p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181D27"/>
                </a:solidFill>
                <a:latin typeface="Arial"/>
              </a:rPr>
              <a:t>по отдельности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013551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51295" y="1984248"/>
            <a:ext cx="2426131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Двумерный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181D27"/>
                </a:solidFill>
                <a:latin typeface="Arial"/>
              </a:rPr>
              <a:t>связи между</a:t>
            </a:r>
          </a:p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181D27"/>
                </a:solidFill>
                <a:latin typeface="Arial"/>
              </a:rPr>
              <a:t>признаками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50579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88323" y="1984248"/>
            <a:ext cx="2426131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С целевой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181D27"/>
                </a:solidFill>
                <a:latin typeface="Arial"/>
              </a:rPr>
              <a:t>что влияет</a:t>
            </a:r>
          </a:p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181D27"/>
                </a:solidFill>
                <a:latin typeface="Arial"/>
              </a:rPr>
              <a:t>на ответ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3016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Порядок не случаен: сначала понимаем, из чего состоят данные, потом изучаем каждый признак, и только затем ищем связи. Прыгать сразу к корреляциям с целевой переменной — способ не заметить, что половина значений битая.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7 / 59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Первые пять команд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С них начинается работа с любой таблицей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10637215" cy="16941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df.shape          # сколько объектов и признаков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df.head()         # как выглядят данные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df.info()         # типы столбцов и число заполненных значений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df.describe()     # статистики числовых признаков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df.isna().mean()  # доля пропусков в каждом столбце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25316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Если после этих пяти команд вы не можете рассказать, что за данные перед вами, — читайте описание датасета, а не пишите код.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8 / 59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Одномерный анализ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Числовые признаки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Гистограмма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— форма распределения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Boxplot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— медиана, квартили, выбросы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Смотрим: симметрично или скошено, один пик или несколько, есть ли отрыв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Скошенность вправо часто лечится логарифмом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Категориальные признаки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Countplot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— частоты категорий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Courier New"/>
              </a:rPr>
              <a:t>value_counts()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— то же числами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Смотрим: сколько уникальных значений, нет ли редких категорий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Категория из </a:t>
            </a:r>
            <a:r>
              <a:rPr sz="1700" b="1" i="0">
                <a:solidFill>
                  <a:srgbClr val="181D27"/>
                </a:solidFill>
                <a:latin typeface="Arial"/>
              </a:rPr>
              <a:t>одного-двух объектов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сигнала не несёт: статистику по ней не построить. Схлопываем редкие в «прочее» — но сначала проверяем, не в них ли смысл задачи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9 / 59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 это выглядит?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Три графика, которыми описывают один признак</a:t>
            </a:r>
          </a:p>
        </p:txBody>
      </p:sp>
      <p:pic>
        <p:nvPicPr>
          <p:cNvPr id="5" name="Picture 4" descr="plot_types_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48256"/>
            <a:ext cx="10637215" cy="32617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511169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Гистограмма показывает форму распределения целиком, boxplot сжимает её до пяти чисел и помечает выбросы, countplot — то же самое для категорий.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10 / 59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видно на гистограмме?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Два пика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в данных смешаны две разные группы объектов. Возможно, стоит разделить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Длинный хвост вправо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типично для денег, площадей, времени. Логарифм сделает распределение симметричнее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Пик на нуле или на круглом числе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часто след заполнения пропусков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Отдельно стоящие столбики на краю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либо выбросы, либо служебные значения вроде −999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Значение −1 или 9999 в возрасте — это не возраст, а «неизвестно», записанное числом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11 / 59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Длинный хвост и что с ним делать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skew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35083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282240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Логарифм не меняет порядок значений, но делает распределение симметричнее. Линейным моделям с таким признаком работать заметно легче.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12 / 59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Двумерный анализ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Три случая по типам пары признаков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Число и число: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scatter plot, коэффициент корреляции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Число и категория: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boxplot или violinplot по группам, сравнение средних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Категория и категория: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таблица сопряжённости, сгруппированный bar plot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Для целевой переменной то же самое, но это главный сюжет анализа: именно эти связи модель и будет использовать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13 / 59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 это выглядит?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По одному графику на каждый тип пары признаков</a:t>
            </a:r>
          </a:p>
        </p:txBody>
      </p:sp>
      <p:pic>
        <p:nvPicPr>
          <p:cNvPr id="5" name="Picture 4" descr="plot_types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48256"/>
            <a:ext cx="10637215" cy="32604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509889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Тип пары определяет график: два числа — scatter plot, число с категорией — boxplot по группам, две категории — доли внутри групп столбиками.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14 / 59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Коэффициент корреляции Пирсона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Измеряет силу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линейной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связи между двумя числовыми признаками:</a:t>
            </a:r>
          </a:p>
        </p:txBody>
      </p:sp>
      <p:pic>
        <p:nvPicPr>
          <p:cNvPr id="5" name="Picture 4" descr="52b4a2350e15da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0738" y="2185416"/>
            <a:ext cx="4030218" cy="12161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3694176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Значение от −1 до 1. Ноль означает отсутствие линейной связи — но не отсутствие связи вообще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15 / 59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В pandas это одна строка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Метод corr() считает попарные корреляции всех числовых столбцов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10637215" cy="240893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num = df[["survived", "pclass", "age", "sibsp", "parch", "fare"]]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6B7484"/>
                </a:solidFill>
                <a:latin typeface="Courier New"/>
              </a:rPr>
              <a:t># Числами — но глазами такую таблицу читать тяжело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num.corr().round(2)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6B7484"/>
                </a:solidFill>
                <a:latin typeface="Courier New"/>
              </a:rPr>
              <a:t># Цветом — сильные связи видно сразу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sns.heatmap(num.corr(), annot=True, fmt=".2f",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           cmap="RdBu_r", vmin=-1, vmax=1)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64007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Диапазон vmin и vmax задают вручную: иначе палитра растянется по фактическим значениям и слабая связь будет выглядеть сильной.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16 / 59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Матрица корреляций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cor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969" y="1572768"/>
            <a:ext cx="7415757" cy="3627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401056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Симметрична, на диагонали единицы. С выживанием сильнее всего связаны класс каюты (−0.34) и цена билета (0.26). А пара pclass и fare (−0.55) говорит о другом: эти два признака во многом дублируют друг друга.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17 / 59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Чего корреляция не показывает?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81D27"/>
                </a:solidFill>
                <a:latin typeface="Arial"/>
              </a:rPr>
              <a:t>Нелинейные связи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У параболы корреляция близка к нулю, хотя связь идеальная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Квартет Энскомба: четыре набора с одинаковой корреляцией и совершенно разными графиками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Вывод: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всегда стройте график, не доверяйте одному числу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1587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81D27"/>
                </a:solidFill>
                <a:latin typeface="Arial"/>
              </a:rPr>
              <a:t>Причинность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Продажи мороженого коррелируют с утоплениями — виновата жара, а не мороженое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Корреляция может возникнуть из-за третьего фактора или случайно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Вывод: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корреляция помогает отобрать признаки, но не объясняет механизм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18 / 59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Квартет Энскомба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anscom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28417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4615731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Четыре набора данных с одинаковыми средними, дисперсиями, корреляцией и одинаковой линией регрессии. Одного числа недостаточно — нужно смотреть на график.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19 / 59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Чеклист разведочного анализа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Что должно быть сделано до перехода к моделям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Размер выборки и число признаков известны, типы проверены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Для каждого признака понятно, что он означает и в каких единицах измерен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Найдены пропуски, выбросы, дубликаты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Построены распределения всех значимых признаков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Изучена связь каждого признака с целевой переменной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Проверено, нет ли признаков, недоступных в момент предсказания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Сформулированы гипотезы о том, что будет работать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20 / 59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Чистка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Пропуски, выбросы, дубликаты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me_missing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"/>
            <a:ext cx="10637215" cy="51718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22 / 59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129743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В столбце «доход» пропущено 30% значений. Что делать первым делом?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72536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Заполнить средним по столбцу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1535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12870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Удалить строки с пропусками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3186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53204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Удалить весь столбец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7220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93538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Понять, почему значения пропали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1253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181D27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23 / 59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69494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В столбце «доход» пропущено 30% значений. Что делать первым делом?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87168"/>
            <a:ext cx="10637215" cy="4480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Заполнить средним по столбцу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7403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44952"/>
            <a:ext cx="10637215" cy="4480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Удалить строки с пропусками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3182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602736"/>
            <a:ext cx="10637215" cy="4480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Удалить весь столбец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8960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160520"/>
            <a:ext cx="10637215" cy="448056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Понять, почему значения пропали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24738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7175" y="426567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846320"/>
            <a:ext cx="10637215" cy="1408176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Понять природу пропуска. Если доход не указали те, кто зарабатывает больше всех, среднее занизит оценку и исказит модель, а сам факт пропуска окажется сильным признаком. Заполнение — второй шаг, и выбирать способ надо, уже зная причину.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24 / 59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Пропуски: сначала понять природу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Пропущено случайно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сбой выгрузки, человек пропустил поле. Заполнять статистикой безопасно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Пропуск зависит от других признаков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доход не указывают чаще в определённых группах. Заполнять сложнее, помогает модель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Пропуск зависит от самого значения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самые богатые не указывают доход. Самый тяжёлый случай, простое заполнение исказит данные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Пропуск — это сам по себе факт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нет номера каюты, потому что каюты не было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Прежде чем заполнять, спросите: почему этого значения нет?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25 / 59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Пропуски редко распределены равномерно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missing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198" y="1572768"/>
            <a:ext cx="8489300" cy="3920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694680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У дохода и образования пропусков заметно больше — и это не случайность. Такие поля не заполняют осознанно, а значит сам факт пропуска несёт информацию о человеке.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26 / 59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Стратегии заполнения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572768"/>
          <a:ext cx="10637213" cy="3373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454741"/>
                <a:gridCol w="4091236"/>
                <a:gridCol w="4091236"/>
              </a:tblGrid>
              <a:tr h="421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Способ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Когда подходит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Чем плох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421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Медиана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Числовой признак, есть выбросы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Занижает разброс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421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Среднее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Числовой, симметричное распределение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Чувствительно к выбросам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421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Мода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Категориальный признак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Раздувает самую частую категорию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421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Отдельная категория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Категориальный, пропуск осмыслен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Растёт размерность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421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Константа вне диапазона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Деревья и бустинг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Ломает линейные модели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421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Предсказание моделью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Пропусков много и они важны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Сложно, риск утечки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421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Удалить строки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Пропусков меньше 1–2%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Теряем данные и можем сместить выборку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27 / 59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Флаг пропуска — часто лучше самого заполнения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217068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6B7484"/>
                </a:solidFill>
                <a:latin typeface="Courier New"/>
              </a:rPr>
              <a:t># Само по себе отсутствие значения бывает информативным признаком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df["age_was_missing"] = df["age"].isna().astype(int)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df["age"] = df["age"].fillna(df["age"].median())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6B7484"/>
                </a:solidFill>
                <a:latin typeface="Courier New"/>
              </a:rPr>
              <a:t># В sklearn это делается одним параметром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from sklearn.impute import SimpleImputer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imputer = SimpleImputer(strategy="median", add_indicator=True)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2633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Модель сама разберётся, полезен ли флаг. Но если его не создать, она не сможет использовать то, чего не видит.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28 / 59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Выбросы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Как находить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Правило трёх сигм — для симметричных распределений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Межквартильный размах: за границами Q1 − 1.5·IQR и Q3 + 1.5·IQR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Просто отсортировать и посмотреть на края — самый надёжный способ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Многомерные выбросы: Isolation 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Что с ними делать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Ошибка в данных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— исправить или удалить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Реальное редкое значение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— оставить, это часть задачи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Мешает линейной модели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— ограничить сверху и снизу или взять логарифм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Деревьям и бустингу выбросы почти безразличны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29 / 59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Правило межквартильного размаха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outliers_i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36454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419378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Границы строятся по квартилям, а не по среднему и отклонению — поэтому сами выбросы не влияют на положение границ.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30 / 59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2103120"/>
            <a:ext cx="10637215" cy="210312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502920" rIns="502920" tIns="100584" bIns="100584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300" b="1" i="0">
                <a:solidFill>
                  <a:srgbClr val="181D27"/>
                </a:solidFill>
                <a:latin typeface="Arial"/>
              </a:rPr>
              <a:t>Выброс — не всегда ошибка. Иногда именно он и есть то, что вы ищете</a:t>
            </a:r>
          </a:p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В задачах поиска мошенничества и отказов оборудования аномалии — это целевой класс, а не мусор.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31 / 59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Дубликаты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Полные дубликаты строк — обычно след сбоя при выгрузке, удаляем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Опасный случай: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почти-дубликаты, различающиеся одним полем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Если дубликаты разъедутся между обучающей и тестовой выборками, модель ответит по памяти — а вы решите, что она обобщает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Проверять надо до разбиения данных: </a:t>
            </a:r>
            <a:r>
              <a:rPr sz="1800" b="0" i="0">
                <a:solidFill>
                  <a:srgbClr val="181D27"/>
                </a:solidFill>
                <a:latin typeface="Courier New"/>
              </a:rPr>
              <a:t>df.duplicated().sum()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32 / 59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Признаки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Кодирование, масштабирование, feature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Категориальные признаки нужно превратить в числа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Почти все алгоритмы работают только с числами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One-hot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по столбцу на категорию, значения 0 и 1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Ordinal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категориям присваиваются номера. Годится, когда порядок осмыслен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Target encoding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категория заменяется средним значением целевой переменной в ней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Частотное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категория заменяется частотой встречаемости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Встроенная обработка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CatBoost и LightGBM умеют работать с категориями напрямую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34 / 59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One-hot: как это выглядит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Один категориальный столбец превращается в три числовых</a:t>
            </a:r>
          </a:p>
        </p:txBody>
      </p:sp>
      <p:pic>
        <p:nvPicPr>
          <p:cNvPr id="5" name="Picture 4" descr="one_hot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498" y="2048256"/>
            <a:ext cx="8478700" cy="34452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694680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Строка становится вектором из нулей с единственной единицей. Параметр drop="first" убирает первый столбец: остальные задают категорию однозначно.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35 / 59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129743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Признак «город» принимает 5000 разных значений. Что даст one-hot кодирование?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72536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Ничего страшного, библиотека справится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1535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12870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5000 почти полностью нулевых столбцов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3186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53204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Города автоматически упорядочатся по частоте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7220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93538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Модель станет заметно точнее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1253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181D27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36 / 59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69494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Признак «город» принимает 5000 разных значений. Что даст one-hot кодирование?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87168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Ничего страшного, библиотека справится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42032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980944"/>
            <a:ext cx="10637215" cy="384048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5000 почти полностью нулевых столбцов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3580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30540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74720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Города автоматически упорядочатся по частоте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52958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68496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Модель станет заметно точнее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02336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90288"/>
            <a:ext cx="10637215" cy="1664208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Матрица распухнет до 5000 разреженных столбцов: линейная модель переобучится на редких городах, дерево почти не сможет их использовать, а память и время вырастут на порядок. Для признаков с большим числом категорий берут target encoding с честной кросс-валидацией, сворачивают редкие значения в «прочее» или отдают категории CatBoost.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37 / 59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One-hot и Ordinal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81D27"/>
                </a:solidFill>
                <a:latin typeface="Arial"/>
              </a:rPr>
              <a:t>One-hot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Не выдумывает порядок там, где его нет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Обязателен для линейных моделей и нейросетей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Плох при большом числе категорий: тысяча городов даёт тысячу столбцов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Courier New"/>
              </a:rPr>
              <a:t>drop="first"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убирает избыточный столбец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1587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81D27"/>
                </a:solidFill>
                <a:latin typeface="Arial"/>
              </a:rPr>
              <a:t>Ordinal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Компактно: один столбец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Подходит деревьям — им безразличен масштаб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Для линейной модели вводит ложный порядок: «Москва в три раза больше Казани»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Осмыслен для настоящих порядковых признаков: класс, уровень, рейтинг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38 / 59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me_enco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031" y="566928"/>
            <a:ext cx="4061632" cy="56967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39 / 59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Target encoding: мощно и опасно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Классический источник утечки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Идея: заменить категорию средним значением целевой переменной по этой категории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Работает отлично, особенно при большом числе категорий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Проблема: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для каждого объекта в среднее входит его собственный ответ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Модель фактически подглядывает в ответ — на обучении блеск, на тесте провал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Лечение: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считать среднее по фолдам (out-of-fold), добавлять сглаживание и шум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Никогда не считайте target encoding до разбиения на обучающую и тестовую выборки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40 / 59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Масштабирование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Приведение признаков к сопоставимым величинам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048256"/>
          <a:ext cx="10637213" cy="26889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59303"/>
                <a:gridCol w="4432172"/>
                <a:gridCol w="3545738"/>
              </a:tblGrid>
              <a:tr h="44815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Способ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Что делает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Когда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44815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StandardScaler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Вычитает среднее, делит на стандартное отклонение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 умолчанию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44815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MinMaxScaler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Сжимает в отрезок от 0 до 1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Границы известны и важны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44815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RobustScaler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Использует медиану и межквартильный размах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Есть выбросы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44815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QuantileTransformer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Приводит к равномерному или нормальному виду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Сильно скошенные данные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44815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Логарифм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Сжимает длинный правый хвост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Деньги, площади, длительности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41 / 59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900176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Каким моделям масштабирование признаков действительно необходимо?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875280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Всем без исключения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4393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614928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Решающему дереву и случайному лесу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8358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354576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Тем, где считают расстояние или штрафуют веса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523232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094224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Никаким, это устаревшая практика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6288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181D27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42 / 59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69494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Каким моделям масштабирование признаков действительно необходимо?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87168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Всем без исключения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42032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980944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Решающему дереву и случайному лесу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3580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474720"/>
            <a:ext cx="10637215" cy="384048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Тем, где считают расстояние или штрафуют веса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52958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35478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68496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Никаким, это устаревшая практика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02336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90288"/>
            <a:ext cx="10637215" cy="1664208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Масштаб важен там, где признаки сравниваются между собой: метод ближайших соседей и метод опорных векторов считают расстояния, линейные модели с регуляризацией штрафуют веса — и признак в рублях получит несопоставимый штраф с признаком в долях. Деревьям масштаб безразличен: они сравнивают значения внутри одного столбца.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43 / 59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Кому нужно масштабирование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Обязательно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Линейные модели с регуляризацией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Метод ближайших соседей и всё, где считается расстояние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Метод опорных векторов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Метод главных компонент, кластеризация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Нейронные сети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Не требуется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Решающие деревья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Случайный лес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Градиентный бустинг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Причина: дерево сравнивает признак с порогом, а не измеряет расстояния — масштаб на разбиение не влияет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44 / 59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Конструирование признаков: место, где знание предметной области даёт больше, чем смена алгоритма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Даты: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день недели, месяц, час, выходной или будний, сколько времени прошло с события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Циклические величины: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час и месяц замкнуты в круг — 23 и 0 рядом. Кодируются синусом и косинусом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Агрегаты: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средний чек клиента, число покупок за месяц, отклонение от собственного среднего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Отношения: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цена за квадратный метр вместо цены и площади по отдельности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Текст: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длина, число слов, наличие ключевых слов — до всякого NLP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Взаимодействия: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произведения признаков для линейных моделей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45 / 59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Разбор: признаки для интернет-магазина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Задача — предсказать, купит ли посетитель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Сырые данные: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время визита, список просмотренных товаров, город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Из времени: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час суток, день недели, выходной или будний, сколько дней прошло с прошлого визита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Из просмотров: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сколько товаров, сколько категорий, средняя цена, максимальная цена, был ли в корзине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Из истории: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сколько покупок за год, средний чек, дней с последней покупки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Отношения: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цена просмотренного к среднему чеку клиента — «дорого ли для него это»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Из трёх сырых полей получилось пятнадцать признаков. Именно на этом шаге чаще всего и выигрывают задачи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46 / 59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Циклические признаки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Как объяснить модели, что после 23 часов идёт 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10637215" cy="240893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import numpy as np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6B7484"/>
                </a:solidFill>
                <a:latin typeface="Courier New"/>
              </a:rPr>
              <a:t># Плохо: модель решит, что 23 и 0 максимально далеки друг от друга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df["hour"] = df["timestamp"].dt.hour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6B7484"/>
                </a:solidFill>
                <a:latin typeface="Courier New"/>
              </a:rPr>
              <a:t># Хорошо: час превращается в точку на окружности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df["hour_sin"] = np.sin(2 * np.pi * df["hour"] / 24)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df["hour_cos"] = np.cos(2 * np.pi * df["hour"] / 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64007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Тот же приём работает для месяца, дня недели, направления ветра и любой другой замкнутой величины.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47 / 59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Почему час нельзя кодировать числом?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cyclic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142" y="1572768"/>
            <a:ext cx="10113411" cy="3920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694680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На прямой полночь и одиннадцать вечера оказываются на противоположных концах шкалы. На окружности они рядом — именно так, как их и воспринимает человек.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48 / 59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Дисбаланс классов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Когда один класс встречается в сто раз реже другого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Мошеннические операции, редкие болезни, отказы оборудования — везде дисбаланс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Первое: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сменить метрику. Accuracy при доле класса 1% бессмысленна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Веса классов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</a:t>
            </a:r>
            <a:r>
              <a:rPr sz="1800" b="0" i="0">
                <a:solidFill>
                  <a:srgbClr val="181D27"/>
                </a:solidFill>
                <a:latin typeface="Courier New"/>
              </a:rPr>
              <a:t>class_weight="balanced"</a:t>
            </a:r>
            <a:r>
              <a:rPr sz="1800" b="0" i="0">
                <a:solidFill>
                  <a:srgbClr val="181D27"/>
                </a:solidFill>
                <a:latin typeface="Arial"/>
              </a:rPr>
              <a:t>, самый простой и часто достаточный приём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Undersampling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выбросить часть большого класса. Теряем данные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Oversampling и SMOTE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размножить редкий класс. Риск переобучения на синтетике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Начинайте с весов и правильной метрики. К SMOTE переходите, только если это не помогло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49 / 59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Пайплайн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Как всё это собрать и не устроить утечку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129743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Вы посчитали среднее и разброс по всем данным, а потом разбили их на обучение и тест. В чём беда?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72536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Ни в чём, среднее — это просто число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1535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12870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Тест повлиял на обучение, качество будет завышено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3186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53204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Модель будет учиться медленнее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7220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93538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Придётся заново кодировать категории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1253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181D27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51 / 59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10058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Вы посчитали среднее и разброс по всем данным, а потом разбили их на обучение и тест. В чём беда?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98064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Ни в чём, среднее — это просто число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5292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91840"/>
            <a:ext cx="10637215" cy="384048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Тест повлиял на обучение, качество будет завышено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4670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336499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85616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Модель будет учиться медленнее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4048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79392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Придётся заново кодировать категории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33425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901184"/>
            <a:ext cx="10637215" cy="135331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Статистики теста просочились в обучение — это утечка. Сама по себе она даёт небольшой оптимистичный сдвиг, но вместе с подбором гиперпараметров легко превращается в несколько процентов несуществующего качества. Правильный порядок: сначала разбить, потом считать статистики только на обучающей части — и удобнее всего это делает пайплайн.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52 / 59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Почему обработка «руками» течёт?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CEFEF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C0393B"/>
                </a:solidFill>
                <a:latin typeface="Arial"/>
              </a:rPr>
              <a:t>Так делать нельзя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Заполнить пропуски по всему датасету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Отмасштабировать весь датасет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Потом разделить на обучающую и тестовую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Результат: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статистики теста участвовали в обучении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Оценка качества завышена, в проде модель хуже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1587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B8A5A"/>
                </a:solidFill>
                <a:latin typeface="Arial"/>
              </a:rPr>
              <a:t>Так правильно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1B8A5A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Сначала разделить данные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1B8A5A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Обучить преобразования только на обучающей части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1B8A5A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Применить их к тестовой без пересчёта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1B8A5A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Результат: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честная оценка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1B8A5A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При кросс-валидации это повторяется на каждом фолде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53 / 59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Два порядка действий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leakage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34619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235905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Разница только в очерёдности шагов, но в первом случае статистики тестовой выборки участвуют в обучении, и оценка качества перестаёт быть честной.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54 / 59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ColumnTransformer: разным столбцам — разная обработка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44851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from sklearn.compose import ColumnTransformer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from sklearn.pipeline import Pipeline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from sklearn.impute import SimpleImputer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from sklearn.preprocessing import StandardScaler, OneHotEncoder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numeric = ["age", "fare", "sibsp"]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categorical = ["sex", "embarked"]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preprocessor = ColumnTransformer([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    ("num", Pipeline([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        ("impute", SimpleImputer(strategy="median", add_indicator=True)),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        ("scale", StandardScaler()),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    ]), numeric),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    ("cat", Pipeline([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        ("impute", SimpleImputer(strategy="most_frequent")),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        ("encode", OneHotEncoder(handle_unknown="ignore")),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    ]), categorical),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81D27"/>
                </a:solidFill>
                <a:latin typeface="Courier New"/>
              </a:rPr>
              <a:t>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55 / 59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Полный пайплайн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Обработка и модель как единый объект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10637215" cy="312369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model = Pipeline([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   ("prep", preprocessor),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   ("clf", LogisticRegression(max_iter=1000)),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])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6B7484"/>
                </a:solidFill>
                <a:latin typeface="Courier New"/>
              </a:rPr>
              <a:t># Медиана и параметры масштабирования считаются внутри fit —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6B7484"/>
                </a:solidFill>
                <a:latin typeface="Courier New"/>
              </a:rPr>
              <a:t># только по обучающей части. Утечка невозможна по построению.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scores = cross_val_score(model, X_train, y_train, cv=5, scoring="roc_auc")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model.fit(X_train, y_train)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predictions = model.predict(X_test)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54828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Пайплайн — не украшение кода, а гарантия честности эксперимента. Дальше в курсе мы требуем его во всех работах.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56 / 59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Итоги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нужно унести с лекции?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Разведочный анализ идёт по порядку: обзор, одномерный, двумерный, связь с целевой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Корреляция ловит только линейную связь и ничего не говорит о причинности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Прежде чем заполнять пропуск, спросите, почему значения нет. Флаг пропуска часто ценнее заполнения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Категории кодируются по-разному, и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target encoding течёт</a:t>
            </a:r>
            <a:r>
              <a:rPr sz="1800" b="0" i="0">
                <a:solidFill>
                  <a:srgbClr val="181D27"/>
                </a:solidFill>
                <a:latin typeface="Arial"/>
              </a:rPr>
              <a:t>, если считать его неправильно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Масштабирование нужно линейным моделям и всему, что меряет расстояния; деревьям — нет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Feature engineering даёт больше прироста, чем смена алгоритма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Вся обработка живёт внутри пайплайна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иначе утечка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58 / 59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дальше?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К следующему занятию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Практика 2: разведочный анализ и сборка пайплайна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После практики выдаётся </a:t>
            </a:r>
            <a:r>
              <a:rPr sz="1700" b="1" i="0">
                <a:solidFill>
                  <a:srgbClr val="181D27"/>
                </a:solidFill>
                <a:latin typeface="Arial"/>
              </a:rPr>
              <a:t>домашняя работа 1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— данные и baseline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Выберите себе датасет заранее: нужен с пропусками и категориальными признаками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Что почитать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Документация scikit-learn, разделы про preprocessing и compose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Квартет Энскомба — про то, зачем строить графики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Kaggle Learn, курс Feature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2. Данные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59 / 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
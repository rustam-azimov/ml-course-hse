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5CE6"/>
                </a:solidFill>
                <a:latin typeface="Arial"/>
              </a:rPr>
              <a:t>Машинное обучение · Лекция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81D27"/>
                </a:solidFill>
                <a:latin typeface="Arial"/>
              </a:rPr>
              <a:t>Линейные модели и оптимизация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6B7484"/>
                </a:solidFill>
                <a:latin typeface="Arial"/>
              </a:rPr>
              <a:t>Как модель учится: градиентный спуск, переобучение, регуляризация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257800"/>
            <a:ext cx="2011680" cy="1905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81D27"/>
                </a:solidFill>
                <a:latin typeface="Arial"/>
              </a:rPr>
              <a:t>Рустам Азимов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Почему начинаем с линейных моделей?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Это самый простой способ увидеть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весь механизм обучения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целиком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Градиентный спуск, который разберём сегодня, обучает и нейросети — там он тот же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Линейная модель интерпретируема: видно, какой признак и насколько влияет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Часто оказывается достаточной, а всегда — хорошим baseline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Переобучение и регуляризация проще всего понимаются именно здесь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 / 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Линейная регрессия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Предсказываем число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Модель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Предсказание — взвешенная сумма признаков плюс свободный член:</a:t>
            </a:r>
          </a:p>
        </p:txBody>
      </p:sp>
      <p:pic>
        <p:nvPicPr>
          <p:cNvPr id="5" name="Picture 4" descr="f3a8011e0e1f77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629" y="2185416"/>
            <a:ext cx="5774436" cy="4640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42081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 матричном виде, если добавить к признакам столбец из единиц:</a:t>
            </a:r>
          </a:p>
        </p:txBody>
      </p:sp>
      <p:pic>
        <p:nvPicPr>
          <p:cNvPr id="7" name="Picture 6" descr="1cf8ee1277aa32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7484" y="3417569"/>
            <a:ext cx="1236726" cy="4640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17423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Обучить модель — значит подобрать вектор весов 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 / 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значит «подобрать прямую»?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Один признак, один вес — и задача уже видна целиком</a:t>
            </a:r>
          </a:p>
        </p:txBody>
      </p:sp>
      <p:pic>
        <p:nvPicPr>
          <p:cNvPr id="5" name="Picture 4" descr="fit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660" y="2048256"/>
            <a:ext cx="8362376" cy="3151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Каждый набор весов задаёт свою прямую, и у каждой своя ошибка. Подобрать модель — значит найти веса, при которых сумма квадратов остатков минимальна. Перебор идёт не наугад: направление подскажет градиент.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 / 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Функция потерь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Среднеквадратичная ошибка — сумма квадратов промахов:</a:t>
            </a:r>
          </a:p>
        </p:txBody>
      </p:sp>
      <p:pic>
        <p:nvPicPr>
          <p:cNvPr id="5" name="Picture 4" descr="30cc654cb1030c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161" y="2185416"/>
            <a:ext cx="6405372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45643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Квадрат, а не модуль: функция становится гладкой, её удобно дифференцировать, а большие ошибки штрафуются сильнее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6 / 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Разберём на числах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Три объекта, один признак — площадь квартиры в десятках метров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Данные: (3, 60), (5, 95), (8, 150) — площадь и цена в тысячах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Пробуем модель ŷ = 18x: получаем 54, 90, 144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Остатки y − ŷ: +6, +5, +6. Средний квадрат: (36 + 25 + 36) / 3 = 32.3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Пробуем ŷ = 19x: получаем 57, 95, 152. Остатки: +3, 0, −2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Средний квадрат: (9 + 0 + 4) / 3 = 4.3 —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существенно лучше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Обучение и есть перебор таких вариантов, только не наугад, а по направлению градиента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7 / 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Почему именно квадрат ошибки?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Плюсы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Гладкая функция, есть производная везде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Выпуклая: один минимум, локальных ловушек нет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Есть аналитическое решение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Сильно штрафует крупные промахи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Минусы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Очень чувствительна к выбросам: ошибка в 10 весит в 100 раз больше ошибки в 1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Если выбросы есть — берут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MAE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(модуль) или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Huber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(компромисс между ними)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8 / 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Аналитическое решение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Приравняв градиент к нулю, получаем формулу для оптимальных весов:</a:t>
            </a:r>
          </a:p>
        </p:txBody>
      </p:sp>
      <p:pic>
        <p:nvPicPr>
          <p:cNvPr id="5" name="Picture 4" descr="b2f85fa4ba43e2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094" y="2185416"/>
            <a:ext cx="2905506" cy="473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51225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Красиво, но на практике почти не используется. Почему: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18153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Обращение матрицы стоит порядка d³ операций — при тысяче признаков это уже дорого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121657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Матрица может быть вырожденной, если признаки линейно зависимы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25161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большинства других моделей такой формулы просто нет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9 / 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Когда аналитическое решение ломается?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Матрица XᵀX должна быть обратима — а это не всегда так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Признаков больше, чем объектов.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Классика для генетики и текстов: тысячи признаков, сотни наблюдений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Линейно зависимые признаки.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Есть «цена в рублях» и «цена в тысячах рублей» — второй столбец не несёт новой информации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Почти зависимые признаки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мультиколлинеарность. Матрица формально обратима, но решение неустойчиво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Симптом мультиколлинеарности: коэффициенты огромные и с неожиданными знаками, а при малом изменении данных скачут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Регуляризация чинит все три случая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она делает матрицу обратимой по построению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10 / 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регуляризация спасает?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Минимизируем не просто ошибку, а ошибку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плюс штраф за величину весов</a:t>
            </a:r>
            <a:r>
              <a:rPr sz="1800" b="0" i="0">
                <a:solidFill>
                  <a:srgbClr val="181D27"/>
                </a:solidFill>
                <a:latin typeface="Arial"/>
              </a:rPr>
              <a:t>:</a:t>
            </a:r>
          </a:p>
        </p:txBody>
      </p:sp>
      <p:pic>
        <p:nvPicPr>
          <p:cNvPr id="5" name="Picture 4" descr="22bbe4e9f9a0fa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544" y="2185416"/>
            <a:ext cx="4848606" cy="10812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55930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Слева знакомая MSE, справа L2-штраф. Настраивается один параметр — α: при α = 0 это обычный МНК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62806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У такой функции минимум тоже выписывается явно:</a:t>
            </a:r>
          </a:p>
        </p:txBody>
      </p:sp>
      <p:pic>
        <p:nvPicPr>
          <p:cNvPr id="8" name="Picture 7" descr="3aed6fa916532c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474" y="4638294"/>
            <a:ext cx="3682746" cy="4732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404103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Добавка αI делает матрицу обратимой при любом α &gt; 0 — отсюда название ridge, гребневая регрессия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11 / 56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Градиентный спуск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Универсальный способ обучать почти что угодно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Идея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Спускаемся с горы в тумане, зная только наклон под ногами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Начинаем со случайных весов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Считаем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градиент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направление наискорейшего роста функции потерь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Делаем шаг в противоположную сторону: туда потери убывают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Повторяем, пока не перестанет улучшаться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Никакой магии: это просто спуск по поверхности функции ошибки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13 / 56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Шаг градиентного спуска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Правило обновления весов:</a:t>
            </a:r>
          </a:p>
        </p:txBody>
      </p:sp>
      <p:pic>
        <p:nvPicPr>
          <p:cNvPr id="5" name="Picture 4" descr="f4351ca028a22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143" y="2185416"/>
            <a:ext cx="4407408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5351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MSE градиент считается явно:</a:t>
            </a:r>
          </a:p>
        </p:txBody>
      </p:sp>
      <p:pic>
        <p:nvPicPr>
          <p:cNvPr id="7" name="Picture 6" descr="73ee589e803261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747" y="3429000"/>
            <a:ext cx="3886200" cy="4777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199381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η — скорость обучения (learning rate), главный гиперпараметр метода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14 / 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идёт спуск?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Тридцать четыре шага по поверхности потерь</a:t>
            </a:r>
          </a:p>
        </p:txBody>
      </p:sp>
      <p:pic>
        <p:nvPicPr>
          <p:cNvPr id="5" name="Picture 4" descr="anim_gd_contour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10" y="2048256"/>
            <a:ext cx="9140475" cy="34452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Каждая точка — шаг против градиента. Зигзаг оттого, что поверхность вытянута: по одной оси функция растёт круче. Справа видно — почти весь выигрыш даёт десяток первых шагов.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15 / 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это выглядит?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anim_gradient_descent_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388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162085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Одна и та же функция потерь, три скорости обучения. Слева шаги слишком мелкие и за 26 итераций мы не дошли до минимума. Справа шаги перелетают через минимум, и с каждым разом амплитуда растёт.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16 / 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learning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986" y="566928"/>
            <a:ext cx="5699723" cy="5696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17 / 56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Скорость обучения в градиентном спуске задали слишком большой. Что произойдёт с функцией потерь?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Сойдётся быстрее обычного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Начнёт расти, а не убывать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Останется на одном значении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Сойдётся, но к другому минимуму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18 / 56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Скорость обучения в градиентном спуске задали слишком большой. Что произойдёт с функцией потерь?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Сойдётся быстрее обычного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Начнёт расти, а не убывать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364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Останется на одном значении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Сойдётся, но к другому минимуму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При слишком большом шаге алгоритм перепрыгивает минимум и оказывается дальше, чем был: потери растут, часто до бесконечности и NaN. Поэтому при жалобе «модель не учится» первым делом смотрят на кривую потерь и уменьшают скорость обучения на порядок, а не меняют модель.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19 / 56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Скорость обучения решает всё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Слишком маленькая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Обучение идёт мучительно долго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Может застрять, не дойдя до минимума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Внешне выглядит как «модель не учится»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Слишком большая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Шаги перепрыгивают минимум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Потери скачут или уходят в бесконечность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Появляются NaN — верный признак расходимости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20 / 56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Три вида спуска на одной задаче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gd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4421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216100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Звезда — истинные веса. Полный градиент идёт гладко, но каждый шаг стоит прохода по всей выборке. Стохастический шумит и пляшет вокруг минимума, зато шагает часто. Мини-пакетный берёт лучшее от обоих — им и пользуются.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21 / 56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Три вида градиентного спуска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3" cy="24614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9303"/>
                <a:gridCol w="2659303"/>
                <a:gridCol w="5318607"/>
              </a:tblGrid>
              <a:tr h="6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Вариант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Сколько объектов на шаг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Свойства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6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Полный (batch)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Вся выборка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Точное направление, но каждый шаг дорогой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6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Стохастический (SGD)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Один объект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Шаги дешёвые и шумные, зато можно выбраться из плохого места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61536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Мини-пакетный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От 32 до 512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Компромисс. Стандарт на практике, особенно в нейросетях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22 / 56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улучшают в базовом методе?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Обзорно — подробно разберём во второй части курса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Момент (momentum).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Шаг учитывает направление предыдущих шагов, как тяжёлый шар катится по склону. Меньше метаний в оврагах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Адаптивная скорость.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У каждого параметра свой шаг: у редко встречающихся признаков больше, у частых меньше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Adam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комбинация момента и адаптивности. Рабочий выбор по умолчанию для нейросетей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Расписание скорости.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Начинаем с большого шага, к концу уменьшаем: сначала быстро приближаемся, потом аккуратно доводим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 классическом ML это редко нужно: sklearn решает линейные задачи точнее и быстрее специализированными методами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23 / 56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Когда останавливаться?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Прошло заданное число итераций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Изменение потерь стало меньше порога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Норма градиента близка к нулю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Качество на валидации перестало расти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самый практичный критерий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Последний вариант называется ранней остановкой и заодно защищает от переобучения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24 / 56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Градиентный спуск работает только на отмасштабированных данных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Если один признак измеряется в единицах, а другой в миллионах, поверхность ошибки вытягивается в узкий овраг, и метод начинает метаться поперёк вместо того, чтобы спускаться вдоль.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25 / 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Переобучение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И что с ним делать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Откуда берётся переобучение?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тем гибче, чем больше у неё параметров и чем они крупнее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Гибкая модель может пройти точно через каждую точку обучающей выборки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Но данные содержат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шум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и модель выучивает его вместе с закономерностью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 новых данных шум другой — и предсказания разваливаются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Полином высокой степени идеально описывает обучающие точки и предсказывает чушь между ними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27 / 56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900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Ошибка на обучении 0.05, на валидации 0.42. Что это?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75280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Недообучение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439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4928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Переобучение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83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354576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Слишком маленькая скорость обучения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32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94224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Ошибка в разметке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628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28 / 56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Ошибка на обучении 0.05, на валидации 0.42. Что это?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Недообучение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740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44952"/>
            <a:ext cx="10637215" cy="448056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Переобучение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3182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1501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02736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Слишком маленькая скорость обучения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896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Ошибка в разметке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4738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46320"/>
            <a:ext cx="10637215" cy="1408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Переобучение в чистом виде: модель запомнила обучающую выборку вместе с шумом. Лечится по порядку — больше данных, затем регуляризация, затем упрощение модели. Недообучение выглядит иначе: ошибка большая и на обучении, и на валидации.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29 / 56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Симптомы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Недообучение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Ошибка велика и на обучении, и на тесте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слишком проста для данных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Лечение: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усложнить модель, добавить признаки, ослабить регуляризацию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CEFEF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C0393B"/>
                </a:solidFill>
                <a:latin typeface="Arial"/>
              </a:rPr>
              <a:t>Переобучение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обучении почти идеально, на тесте плохо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выучила шум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C0393B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Лечение: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упростить модель, усилить регуляризацию, добавить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30 / 56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Полиномиальные признаки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Как линейная модель ловит нелинейность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Модель линейна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по параметрам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а не по признакам — это разные вещи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Добавим x², x³, произведения признаков — и получим кривую, оставаясь в рамках линейной модели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Courier New"/>
              </a:rPr>
              <a:t>PolynomialFeatures(degree=2)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из десяти признаков делает шестьдесят шесть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Плата: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число признаков растёт быстро, и переобучение приходит вместе с ним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Отсюда связка: полиномиальные признаки почти всегда идут вместе с регуляризацией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31 / 56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Полиномиальная регрессия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217068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from sklearn.preprocessing import PolynomialFeatures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model = Pipeline([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   ("poly", PolynomialFeatures(degree=3, include_bias=False)),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   ("scale", StandardScaler()),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    ("ridge", Ridge(alpha=1.0)),</a:t>
            </a:r>
          </a:p>
          <a:p>
            <a:pPr algn="l">
              <a:lnSpc>
                <a:spcPct val="116000"/>
              </a:lnSpc>
            </a:pPr>
            <a:r>
              <a:rPr sz="1400" b="0" i="0">
                <a:solidFill>
                  <a:srgbClr val="181D27"/>
                </a:solidFill>
                <a:latin typeface="Courier New"/>
              </a:rPr>
              <a:t>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26332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Порядок важен: сначала строим признаки, потом масштабируем. Куб большого числа — очень большое число, и без масштабирования регуляризация будет бить по нему несоразмерно.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32 / 56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Разложение ошибки: смещение и разброс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Понятие, к которому вернёмся в лекции про ансамбли</a:t>
            </a:r>
          </a:p>
        </p:txBody>
      </p:sp>
      <p:pic>
        <p:nvPicPr>
          <p:cNvPr id="5" name="Picture 4" descr="bias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796" y="2048256"/>
            <a:ext cx="7840102" cy="3151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Смещение — систематический промах мимо цели, разброс — разлёт выстрелов при смене обучающей выборки. Простая модель бьёт кучно, но мимо; сложная — вокруг цели, но вразброс. Общая ошибка минимальна не с краю, а посередине.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33 / 56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Регуляризация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Штраф за сложность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Идея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 функции потерь добавляется штраф за величину весов:</a:t>
            </a:r>
          </a:p>
        </p:txBody>
      </p:sp>
      <p:pic>
        <p:nvPicPr>
          <p:cNvPr id="5" name="Picture 4" descr="9239b2471d14bd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979" y="2185416"/>
            <a:ext cx="4745736" cy="4320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1007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Теперь модели невыгодно раздувать веса ради подгонки под каждую точку. Коэффициент α задаёт силу штрафа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35 / 56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Два вида штрафа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L2, Ridge (гребневая регрессия)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сумма квадратов весов:</a:t>
            </a:r>
          </a:p>
        </p:txBody>
      </p:sp>
      <p:pic>
        <p:nvPicPr>
          <p:cNvPr id="5" name="Picture 4" descr="48c4481b65b4c6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988" y="2185416"/>
            <a:ext cx="2315718" cy="10812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559302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81D27"/>
                </a:solidFill>
                <a:latin typeface="Arial"/>
              </a:rPr>
              <a:t>L1, лассо (Lasso)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сумма модулей:</a:t>
            </a:r>
          </a:p>
        </p:txBody>
      </p:sp>
      <p:pic>
        <p:nvPicPr>
          <p:cNvPr id="7" name="Picture 6" descr="6f0dd82a7b48fd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551" y="4034790"/>
            <a:ext cx="2450592" cy="108127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408676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Свободный член w0 в штраф не включают — он отвечает за уровень, а не за сложность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36 / 56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900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Что L1-регуляризация делает с весами бесполезных признаков?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75280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Уменьшает, но не до нуля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439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4928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Обнуляет часть весов полностью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83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354576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Увеличивает, чтобы компенсировать шум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5232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094224"/>
            <a:ext cx="10637215" cy="61163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Не трогает — она о другом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2628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37 / 56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Что L1-регуляризация делает с весами бесполезных признаков?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Уменьшает, но не до нуля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7403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44952"/>
            <a:ext cx="10637215" cy="448056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Обнуляет часть весов полностью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3182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1501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602736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Увеличивает, чтобы компенсировать шум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6896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10637215" cy="448056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Не трогает — она о другом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4738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846320"/>
            <a:ext cx="10637215" cy="1408176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L1 честно зануляет: у модуля излом в нуле, и оптимуму выгодно там остановиться. Поэтому Lasso заодно отбирает признаки. L2 веса только сжимает — они становятся маленькими, но ненулевыми, и все признаки остаются в модели.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38 / 56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Ridge и Lasso ведут себя по-разному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Каждая линия — один вес модели по мере роста α</a:t>
            </a:r>
          </a:p>
        </p:txBody>
      </p:sp>
      <p:pic>
        <p:nvPicPr>
          <p:cNvPr id="5" name="Picture 4" descr="re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798" y="2048256"/>
            <a:ext cx="9036098" cy="3151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Ridge сжимает веса плавно и оставляет в модели все десять. Lasso гасит их по одному, и при большой α не остаётся ни одного — отсюда и отбор признаков. Ridge берут по умолчанию, Lasso — когда признаков много, а значимых мало.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39 / 56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выбирать силу регуляризации?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α — гиперпараметр: он не выучивается из данных, его подбирают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Слишком маленькая α — регуляризации фактически нет, переобучение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Слишком большая — все веса зажаты в ноль, недообучение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Подбирается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по кросс-валидации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как именно, разберём на следующей лекции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ElasticNet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комбинация L1 и L2, когда хочется и отбор, и устойчивость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Перед регуляризацией признаки обязательно масштабируют: иначе штраф бьёт по признакам с крупными значениями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40 / 56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делать, если модель не учится?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Порядок проверки — от простого к сложному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Потери не убывают вообще.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Скорее всего, признаки не отмасштабированы или скорость обучения слишком мала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Потери улетели в бесконечность или NaN.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Скорость слишком велика — уменьшайте в десять раз, пока не стабилизируется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Потери убывают, но качество плохое.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Модель слишком проста: нужны новые признаки или нелинейность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На обучении отлично, на валидации плохо.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Переобучение: усиливайте регуляризацию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Коэффициенты огромные и скачут.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Мультиколлинеарность: Ridge или отбор признаков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Проверьте градиент численно: посчитайте разностную оценку и сравните с аналитической. Расхождение означает ошибку в формуле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41 / 56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Логистическая регрессия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Тот же аппарат для классификации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Предсказываем вероятность оттока обычной линейной регрессией. Что не так?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Ничего, так тоже можно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Она выдаёт значения меньше нуля и больше единицы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Она не работает с числовыми признаками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Она будет учиться слишком долго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43 / 56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Предсказываем вероятность оттока обычной линейной регрессией. Что не так?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Ничего, так тоже можно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420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80944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Она выдаёт значения меньше нуля и больше единицы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3580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054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74720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Она не работает с числовыми признаками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6849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Она будет учиться слишком долго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90288"/>
            <a:ext cx="10637215" cy="1664208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Линейная функция ничем не ограничена: на краях диапазона она спокойно выдаст −0.4 или 1.7, а это не вероятности. Вдобавок квадратичные потери слабо наказывают уверенные ошибки. Отсюда сигмоида, которая сжимает результат в интервал от нуля до единицы, и логистические потери.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44 / 56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Почему нельзя просто взять линейную регрессию?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sigmo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1841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95807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Метки — нули и единицы, а прямая выдаёт любое число: слева она уходит ниже нуля и выше единицы. Сигмоида сжимает результат в отрезок [0, 1], и та же линейная комбинация становится вероятностью.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45 / 56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Сигмоида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Линейную комбинацию превращаем в вероятность:</a:t>
            </a:r>
          </a:p>
        </p:txBody>
      </p:sp>
      <p:pic>
        <p:nvPicPr>
          <p:cNvPr id="5" name="Picture 4" descr="97a571d9afc8c2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824" y="2185416"/>
            <a:ext cx="4940046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008376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При z = 0 получается ровно 0.5, при больших положительных z — почти 1, при больших отрицательных — почти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46 / 56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Функция потерь: логистические потери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Квадратичная ошибка здесь не годится — она перестаёт быть выпуклой. Берут логарифмическую:</a:t>
            </a:r>
          </a:p>
        </p:txBody>
      </p:sp>
      <p:pic>
        <p:nvPicPr>
          <p:cNvPr id="5" name="Picture 4" descr="31de191803587a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396" y="2185416"/>
            <a:ext cx="7216902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45643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Уверенная ошибка штрафуется почти бесконечно: сказать «вероятность 0.999» и промахнуться очень дорого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47 / 56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читать коэффициенты?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Знак показывает направление: плюс увеличивает вероятность класса, минус уменьшает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Величина сопоставима между признаками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только если они отмасштабированы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Строго говоря, коэффициент — это изменение логарифма отношения шансов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практики достаточно читать знак и относительную величину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Это одно из главных достоинств модели: решение можно объяснить человеку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48 / 56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Разбор: чтение коэффициентов на примере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Модель предсказывает отток, признаки отмасштабированы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Courier New"/>
              </a:rPr>
              <a:t>число_обращений: +0.84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чем больше обращений в поддержку, тем выше риск ухода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Courier New"/>
              </a:rPr>
              <a:t>срок_с_нами: −0.61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давние клиенты уходят реже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Courier New"/>
              </a:rPr>
              <a:t>средний_чек: −0.12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влияет слабо, но в ту же сторону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Courier New"/>
              </a:rPr>
              <a:t>город_Москва: +0.03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практически ничего не значит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Как это использовать: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первые два признака объясняют почти всё. Стоит поискать похожие на них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Осторожно: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признаки могут коррелировать, и тогда вклад «размазывается» между ними произвольно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49 / 56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Линейные модели в scikit-learn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Что брать под какую задачу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48256"/>
          <a:ext cx="10637214" cy="30209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39204"/>
                <a:gridCol w="3039204"/>
                <a:gridCol w="4558806"/>
              </a:tblGrid>
              <a:tr h="37761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Класс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Задача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Особенность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761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LinearRegression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Регрессия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Без регуляризации, аналитическое решение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761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Ridge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Регрессия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L2-штраф, выбор по умолчанию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761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Lasso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Регрессия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L1-штраф, отбор признаков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761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ElasticNet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Регрессия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Комбинация L1 и L2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761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LogisticRegression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Классификация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Регуляризация задаётся через C, а не alpha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761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SGDClassifier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Классификация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Обучение по мини-пакетам, для больших данных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77613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HuberRegressor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Регрессия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Устойчива к выбросам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50 / 56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Несколько классов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One-vs-Rest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обучаем по классификатору на каждый класс против всех остальных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One-vs-One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по классификатору на каждую пару классов, затем голосование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Softmax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обобщение сигмоиды сразу на несколько классов, один обученный объект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В scikit-learn это переключается параметром, отдельного кода не требуется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Softmax ещё встретится во второй половине курса — им заканчивается почти каждая нейросеть-классификатор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51 / 56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Когда линейной модели достаточно?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Не всякую задачу нужно решать бустингом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Мало данных.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Сотни объектов — сложная модель переобучится, простая устоит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Нужно объяснять каждое решение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регуляторные требования, медицина, кредиты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Зависимость близка к линейной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модель поймает её сразу, ансамбль лишь повторит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Жёсткие требования к скорости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одна формула считается мгновенно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Признаков очень много, объектов мало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линейная модель с L1 отберёт нужные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Логистическая регрессия до сих пор работает в банках и страховых — не по инерции, а потому что её решения можно защитить перед регулятором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52 / 56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Всё вместе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3770376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from sklearn.linear_model import Ridge, Lasso, LogisticRegression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from sklearn.pipeline import Pipeline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from sklearn.preprocessing import StandardScaler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6B7484"/>
                </a:solidFill>
                <a:latin typeface="Courier New"/>
              </a:rPr>
              <a:t># Регрессия с L2-регуляризацией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ridge = Pipeline([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("scale", StandardScaler()),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("model", Ridge(alpha=1.0)),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])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6B7484"/>
                </a:solidFill>
                <a:latin typeface="Courier New"/>
              </a:rPr>
              <a:t># Классификация. C — величина, обратная силе регуляризации: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6B7484"/>
                </a:solidFill>
                <a:latin typeface="Courier New"/>
              </a:rPr>
              <a:t># чем меньше C, тем сильнее штраф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logreg = Pipeline([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("scale", StandardScaler()),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    ("model", LogisticRegression(C=1.0, max_iter=1000)),</a:t>
            </a:r>
          </a:p>
          <a:p>
            <a:pPr algn="l">
              <a:lnSpc>
                <a:spcPct val="116000"/>
              </a:lnSpc>
            </a:pPr>
            <a:r>
              <a:rPr sz="1200" b="0" i="0">
                <a:solidFill>
                  <a:srgbClr val="181D27"/>
                </a:solidFill>
                <a:latin typeface="Courier New"/>
              </a:rPr>
              <a:t>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26024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Осторожно с обозначениями: у Ridge сила регуляризации задаётся через alpha и растёт с ним, а у LogisticRegression через C и с ним убывает.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53 / 56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Итоги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нужно унести с лекции?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Линейная модель — взвешенная сумма признаков; обучение подбирает веса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Градиентный спуск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универсальный метод оптимизации, им обучаются и нейросети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Скорость обучения критична: мала — не сойдётся, велика — разойдётся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Переобучение — это выученный шум; диагностируется разрывом между обучением и тестом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Регуляризация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штрафует сложность: L2 сжимает веса, L1 обнуляет и отбирает признаки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Логистическая регрессия — та же линейная модель, пропущенная через сигмоиду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Всё это требует масштабирования признаков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55 / 56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дальше?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 следующему занятию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Практика 3: реализуем градиентный спуск с нуля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Сдача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домашней работы 1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 лекции 4 разберём, как честно измерять качество и подбирать 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Что почитать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Документация scikit-learn, раздел Linear Models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Визуализация градиентного спуска — интерактивные демонстрации в сети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Stanford CS229, конспекты по линейной и логистической регрессии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3. Линейные модели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56 / 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